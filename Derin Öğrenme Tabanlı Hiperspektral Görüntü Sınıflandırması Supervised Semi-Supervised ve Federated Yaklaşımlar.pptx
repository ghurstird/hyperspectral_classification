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Inter" pitchFamily="2" charset="0"/>
      <p:regular r:id="rId24"/>
      <p:bold r:id="rId24"/>
      <p:italic r:id="rId24"/>
      <p:boldItalic r:id="rId25"/>
    </p:embeddedFont>
    <p:embeddedFont>
      <p:font typeface="Microsoft YaHei" panose="020B0503020204020204" pitchFamily="34" charset="-122"/>
      <p:regular r:id="rId26"/>
      <p:bold r:id="rId27"/>
    </p:embeddedFont>
    <p:embeddedFont>
      <p:font typeface="Montserrat" pitchFamily="2" charset="0"/>
      <p:regular r:id="rId28"/>
      <p:bold r:id="rId29"/>
      <p:italic r:id="rId30"/>
      <p:boldItalic r:id="rId31"/>
    </p:embeddedFont>
    <p:embeddedFont>
      <p:font typeface="Segoe UI" panose="020B0502040204020203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87"/>
    <p:restoredTop sz="94689"/>
  </p:normalViewPr>
  <p:slideViewPr>
    <p:cSldViewPr snapToGrid="0" snapToObjects="1">
      <p:cViewPr>
        <p:scale>
          <a:sx n="156" d="100"/>
          <a:sy n="156" d="100"/>
        </p:scale>
        <p:origin x="-1656" y="-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5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Toplam Etiketli Örnek</c:v>
                </c:pt>
              </c:strCache>
            </c:strRef>
          </c:tx>
          <c:spPr>
            <a:ln w="9525">
              <a:solidFill>
                <a:srgbClr val="00C2E0"/>
              </a:solidFill>
            </a:ln>
          </c:spPr>
          <c:invertIfNegative val="1"/>
          <c:dPt>
            <c:idx val="0"/>
            <c:invertIfNegative val="1"/>
            <c:bubble3D val="0"/>
            <c:spPr>
              <a:solidFill>
                <a:srgbClr val="00C2E0"/>
              </a:solidFill>
            </c:spPr>
            <c:extLst>
              <c:ext xmlns:c16="http://schemas.microsoft.com/office/drawing/2014/chart" uri="{C3380CC4-5D6E-409C-BE32-E72D297353CC}">
                <c16:uniqueId val="{00000001-B9B5-453F-8B2C-E355F02A296B}"/>
              </c:ext>
            </c:extLst>
          </c:dPt>
          <c:dPt>
            <c:idx val="1"/>
            <c:invertIfNegative val="1"/>
            <c:bubble3D val="0"/>
            <c:spPr>
              <a:solidFill>
                <a:srgbClr val="7B4FFF"/>
              </a:solidFill>
            </c:spPr>
            <c:extLst>
              <c:ext xmlns:c16="http://schemas.microsoft.com/office/drawing/2014/chart" uri="{C3380CC4-5D6E-409C-BE32-E72D297353CC}">
                <c16:uniqueId val="{00000003-B9B5-453F-8B2C-E355F02A296B}"/>
              </c:ext>
            </c:extLst>
          </c:dPt>
          <c:dPt>
            <c:idx val="2"/>
            <c:invertIfNegative val="1"/>
            <c:bubble3D val="0"/>
            <c:spPr>
              <a:solidFill>
                <a:srgbClr val="F5A623"/>
              </a:solidFill>
            </c:spPr>
            <c:extLst>
              <c:ext xmlns:c16="http://schemas.microsoft.com/office/drawing/2014/chart" uri="{C3380CC4-5D6E-409C-BE32-E72D297353CC}">
                <c16:uniqueId val="{00000005-B9B5-453F-8B2C-E355F02A296B}"/>
              </c:ext>
            </c:extLst>
          </c:dPt>
          <c:cat>
            <c:strRef>
              <c:f>Sheet1!$A$2:$A$4</c:f>
              <c:strCache>
                <c:ptCount val="3"/>
                <c:pt idx="0">
                  <c:v>Indian Pines</c:v>
                </c:pt>
                <c:pt idx="1">
                  <c:v>Salinas</c:v>
                </c:pt>
                <c:pt idx="2">
                  <c:v>Pavia University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10249</c:v>
                </c:pt>
                <c:pt idx="1">
                  <c:v>54129</c:v>
                </c:pt>
                <c:pt idx="2">
                  <c:v>42776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9B5-453F-8B2C-E355F02A29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000000">
                <a:alpha val="10000"/>
              </a:srgbClr>
            </a:solidFill>
          </a:ln>
        </c:spPr>
        <c:txPr>
          <a:bodyPr/>
          <a:lstStyle/>
          <a:p>
            <a:pPr>
              <a:defRPr sz="900">
                <a:solidFill>
                  <a:srgbClr val="1E2A40"/>
                </a:solidFill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in val="0"/>
        </c:scaling>
        <c:delete val="0"/>
        <c:axPos val="l"/>
        <c:majorGridlines>
          <c:spPr>
            <a:ln w="9525">
              <a:solidFill>
                <a:srgbClr val="D0D9EE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900">
                    <a:solidFill>
                      <a:srgbClr val="1E2A40"/>
                    </a:solidFill>
                  </a:rPr>
                  <a:t>Etiketli Örnek Sayısı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D0D9EE"/>
            </a:solidFill>
          </a:ln>
        </c:spPr>
        <c:txPr>
          <a:bodyPr/>
          <a:lstStyle/>
          <a:p>
            <a:pPr>
              <a:defRPr sz="1100">
                <a:solidFill>
                  <a:srgbClr val="1E2A40"/>
                </a:solidFill>
                <a:latin typeface="Calibr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title>
      <c:tx>
        <c:rich>
          <a:bodyPr/>
          <a:lstStyle/>
          <a:p>
            <a:r>
              <a:rPr lang="en-US" sz="900" b="1">
                <a:solidFill>
                  <a:srgbClr val="1B2A6B"/>
                </a:solidFill>
                <a:latin typeface="Segoe UI"/>
              </a:rPr>
              <a:t>Paradigmaya Göre Eğitim Doğruluk Eğrileri (Gösterge)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Gözetimli</c:v>
                </c:pt>
              </c:strCache>
            </c:strRef>
          </c:tx>
          <c:spPr>
            <a:ln w="23812">
              <a:solidFill>
                <a:srgbClr val="1B2A6B"/>
              </a:solidFill>
            </a:ln>
          </c:spPr>
          <c:marker>
            <c:symbol val="circle"/>
            <c:size val="6"/>
          </c:marker>
          <c:cat>
            <c:strRef>
              <c:f>Sheet1!$A$2:$A$11</c:f>
              <c:strCache>
                <c:ptCount val="10"/>
                <c:pt idx="0">
                  <c:v>Tur 1</c:v>
                </c:pt>
                <c:pt idx="1">
                  <c:v>Tur 2</c:v>
                </c:pt>
                <c:pt idx="2">
                  <c:v>Tur 3</c:v>
                </c:pt>
                <c:pt idx="3">
                  <c:v>Tur 4</c:v>
                </c:pt>
                <c:pt idx="4">
                  <c:v>Tur 5</c:v>
                </c:pt>
                <c:pt idx="5">
                  <c:v>Tur 6</c:v>
                </c:pt>
                <c:pt idx="6">
                  <c:v>Tur 7</c:v>
                </c:pt>
                <c:pt idx="7">
                  <c:v>Tur 8</c:v>
                </c:pt>
                <c:pt idx="8">
                  <c:v>Tur 9</c:v>
                </c:pt>
                <c:pt idx="9">
                  <c:v>Tur 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62</c:v>
                </c:pt>
                <c:pt idx="1">
                  <c:v>71</c:v>
                </c:pt>
                <c:pt idx="2">
                  <c:v>78</c:v>
                </c:pt>
                <c:pt idx="3">
                  <c:v>83</c:v>
                </c:pt>
                <c:pt idx="4">
                  <c:v>87</c:v>
                </c:pt>
                <c:pt idx="5">
                  <c:v>89</c:v>
                </c:pt>
                <c:pt idx="6">
                  <c:v>91</c:v>
                </c:pt>
                <c:pt idx="7">
                  <c:v>92</c:v>
                </c:pt>
                <c:pt idx="8">
                  <c:v>93</c:v>
                </c:pt>
                <c:pt idx="9">
                  <c:v>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C5B-43F8-BA32-C8B590D165C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Yarı-Gözetimli</c:v>
                </c:pt>
              </c:strCache>
            </c:strRef>
          </c:tx>
          <c:spPr>
            <a:ln w="23812">
              <a:solidFill>
                <a:srgbClr val="7B4FFF"/>
              </a:solidFill>
            </a:ln>
          </c:spPr>
          <c:marker>
            <c:symbol val="circle"/>
            <c:size val="6"/>
          </c:marker>
          <c:cat>
            <c:strRef>
              <c:f>Sheet1!$A$2:$A$11</c:f>
              <c:strCache>
                <c:ptCount val="10"/>
                <c:pt idx="0">
                  <c:v>Tur 1</c:v>
                </c:pt>
                <c:pt idx="1">
                  <c:v>Tur 2</c:v>
                </c:pt>
                <c:pt idx="2">
                  <c:v>Tur 3</c:v>
                </c:pt>
                <c:pt idx="3">
                  <c:v>Tur 4</c:v>
                </c:pt>
                <c:pt idx="4">
                  <c:v>Tur 5</c:v>
                </c:pt>
                <c:pt idx="5">
                  <c:v>Tur 6</c:v>
                </c:pt>
                <c:pt idx="6">
                  <c:v>Tur 7</c:v>
                </c:pt>
                <c:pt idx="7">
                  <c:v>Tur 8</c:v>
                </c:pt>
                <c:pt idx="8">
                  <c:v>Tur 9</c:v>
                </c:pt>
                <c:pt idx="9">
                  <c:v>Tur 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58</c:v>
                </c:pt>
                <c:pt idx="1">
                  <c:v>67</c:v>
                </c:pt>
                <c:pt idx="2">
                  <c:v>76</c:v>
                </c:pt>
                <c:pt idx="3">
                  <c:v>83</c:v>
                </c:pt>
                <c:pt idx="4">
                  <c:v>88</c:v>
                </c:pt>
                <c:pt idx="5">
                  <c:v>91</c:v>
                </c:pt>
                <c:pt idx="6">
                  <c:v>93</c:v>
                </c:pt>
                <c:pt idx="7">
                  <c:v>95</c:v>
                </c:pt>
                <c:pt idx="8">
                  <c:v>96</c:v>
                </c:pt>
                <c:pt idx="9">
                  <c:v>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C5B-43F8-BA32-C8B590D165C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Federated (Dağıtık)</c:v>
                </c:pt>
              </c:strCache>
            </c:strRef>
          </c:tx>
          <c:spPr>
            <a:ln w="23812">
              <a:solidFill>
                <a:srgbClr val="00C2E0"/>
              </a:solidFill>
            </a:ln>
          </c:spPr>
          <c:marker>
            <c:symbol val="circle"/>
            <c:size val="6"/>
          </c:marker>
          <c:cat>
            <c:strRef>
              <c:f>Sheet1!$A$2:$A$11</c:f>
              <c:strCache>
                <c:ptCount val="10"/>
                <c:pt idx="0">
                  <c:v>Tur 1</c:v>
                </c:pt>
                <c:pt idx="1">
                  <c:v>Tur 2</c:v>
                </c:pt>
                <c:pt idx="2">
                  <c:v>Tur 3</c:v>
                </c:pt>
                <c:pt idx="3">
                  <c:v>Tur 4</c:v>
                </c:pt>
                <c:pt idx="4">
                  <c:v>Tur 5</c:v>
                </c:pt>
                <c:pt idx="5">
                  <c:v>Tur 6</c:v>
                </c:pt>
                <c:pt idx="6">
                  <c:v>Tur 7</c:v>
                </c:pt>
                <c:pt idx="7">
                  <c:v>Tur 8</c:v>
                </c:pt>
                <c:pt idx="8">
                  <c:v>Tur 9</c:v>
                </c:pt>
                <c:pt idx="9">
                  <c:v>Tur 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55</c:v>
                </c:pt>
                <c:pt idx="1">
                  <c:v>63</c:v>
                </c:pt>
                <c:pt idx="2">
                  <c:v>71</c:v>
                </c:pt>
                <c:pt idx="3">
                  <c:v>77</c:v>
                </c:pt>
                <c:pt idx="4">
                  <c:v>82</c:v>
                </c:pt>
                <c:pt idx="5">
                  <c:v>85</c:v>
                </c:pt>
                <c:pt idx="6">
                  <c:v>87</c:v>
                </c:pt>
                <c:pt idx="7">
                  <c:v>89</c:v>
                </c:pt>
                <c:pt idx="8">
                  <c:v>90</c:v>
                </c:pt>
                <c:pt idx="9">
                  <c:v>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C5B-43F8-BA32-C8B590D165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Gridlines>
          <c:spPr>
            <a:ln w="9525">
              <a:solidFill>
                <a:srgbClr val="D0D9EE">
                  <a:alpha val="30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25">
                    <a:solidFill>
                      <a:srgbClr val="6B7A9A"/>
                    </a:solidFill>
                  </a:rPr>
                  <a:t>Eğitim Turu (Katlama)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D0D9EE">
                <a:alpha val="30000"/>
              </a:srgbClr>
            </a:solidFill>
          </a:ln>
        </c:spPr>
        <c:txPr>
          <a:bodyPr/>
          <a:lstStyle/>
          <a:p>
            <a:pPr>
              <a:defRPr sz="750">
                <a:solidFill>
                  <a:srgbClr val="6B7A9A"/>
                </a:solidFill>
                <a:latin typeface="Calibri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0"/>
          <c:min val="50"/>
        </c:scaling>
        <c:delete val="0"/>
        <c:axPos val="l"/>
        <c:majorGridlines>
          <c:spPr>
            <a:ln w="9525">
              <a:solidFill>
                <a:srgbClr val="D0D9EE">
                  <a:alpha val="60000"/>
                </a:srgbClr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825">
                    <a:solidFill>
                      <a:srgbClr val="6B7A9A"/>
                    </a:solidFill>
                  </a:rPr>
                  <a:t>Genel Doğruluk (%)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D0D9EE">
                <a:alpha val="60000"/>
              </a:srgbClr>
            </a:solidFill>
          </a:ln>
        </c:spPr>
        <c:txPr>
          <a:bodyPr/>
          <a:lstStyle/>
          <a:p>
            <a:pPr>
              <a:defRPr sz="750">
                <a:solidFill>
                  <a:srgbClr val="6B7A9A"/>
                </a:solidFill>
                <a:latin typeface="Calibri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25">
              <a:solidFill>
                <a:srgbClr val="1E2A40"/>
              </a:solidFill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-dataport.org/documents/hyperspectral-remote-sensing-datasets-indian-pines-pavia-university-botswana-and-salinas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dpi.com/2072-4292/17/24/4035" TargetMode="External"/><Relationship Id="rId5" Type="http://schemas.openxmlformats.org/officeDocument/2006/relationships/hyperlink" Target="https://arxiv.org/html/2511.15692v1" TargetMode="Externa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11" Type="http://schemas.openxmlformats.org/officeDocument/2006/relationships/hyperlink" Target="https://ieee-dataport.org/documents/hyperspectral-remote-sensing-datasets-indian-pines-pavia-university-botswana-and-salinas" TargetMode="External"/><Relationship Id="rId5" Type="http://schemas.openxmlformats.org/officeDocument/2006/relationships/image" Target="../media/image10.svg"/><Relationship Id="rId10" Type="http://schemas.openxmlformats.org/officeDocument/2006/relationships/hyperlink" Target="https://www.ehu.eus/ccwintco/index.php/Hyperspectral_Remote_Sensing_Scenes" TargetMode="External"/><Relationship Id="rId4" Type="http://schemas.openxmlformats.org/officeDocument/2006/relationships/image" Target="../media/image9.sv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chart" Target="../charts/chart1.xml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eee-dataport.org/documents/hyperspectral-remote-sensing-datasets-indian-pines-pavia-university-botswana-and-salinas" TargetMode="External"/><Relationship Id="rId5" Type="http://schemas.openxmlformats.org/officeDocument/2006/relationships/hyperlink" Target="https://www.ehu.eus/ccwintco/index.php/Hyperspectral_Remote_Sensing_Scenes" TargetMode="External"/><Relationship Id="rId4" Type="http://schemas.openxmlformats.org/officeDocument/2006/relationships/image" Target="../media/image1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12" Type="http://schemas.openxmlformats.org/officeDocument/2006/relationships/image" Target="../media/image34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2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0" Type="http://schemas.openxmlformats.org/officeDocument/2006/relationships/image" Target="../media/image43.svg"/><Relationship Id="rId4" Type="http://schemas.openxmlformats.org/officeDocument/2006/relationships/image" Target="../media/image37.svg"/><Relationship Id="rId9" Type="http://schemas.openxmlformats.org/officeDocument/2006/relationships/image" Target="../media/image4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sprs-archives.copernicus.org/articles/XLVIII-2-W11-2025/247/2025/" TargetMode="External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dpi.com/2072-4292/17/24/4035" TargetMode="External"/><Relationship Id="rId5" Type="http://schemas.openxmlformats.org/officeDocument/2006/relationships/hyperlink" Target="https://arxiv.org/html/2511.15692v1" TargetMode="External"/><Relationship Id="rId4" Type="http://schemas.openxmlformats.org/officeDocument/2006/relationships/image" Target="../media/image51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svg"/><Relationship Id="rId7" Type="http://schemas.openxmlformats.org/officeDocument/2006/relationships/image" Target="../media/image57.svg"/><Relationship Id="rId2" Type="http://schemas.openxmlformats.org/officeDocument/2006/relationships/image" Target="../media/image5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svg"/><Relationship Id="rId5" Type="http://schemas.openxmlformats.org/officeDocument/2006/relationships/image" Target="../media/image55.svg"/><Relationship Id="rId4" Type="http://schemas.openxmlformats.org/officeDocument/2006/relationships/image" Target="../media/image54.svg"/><Relationship Id="rId9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sv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svg"/><Relationship Id="rId4" Type="http://schemas.openxmlformats.org/officeDocument/2006/relationships/image" Target="../media/image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7" Type="http://schemas.openxmlformats.org/officeDocument/2006/relationships/hyperlink" Target="https://arxiv.org/html/2511.15692v1" TargetMode="External"/><Relationship Id="rId2" Type="http://schemas.openxmlformats.org/officeDocument/2006/relationships/image" Target="../media/image7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svg"/><Relationship Id="rId5" Type="http://schemas.openxmlformats.org/officeDocument/2006/relationships/image" Target="../media/image74.svg"/><Relationship Id="rId4" Type="http://schemas.openxmlformats.org/officeDocument/2006/relationships/image" Target="../media/image7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1.15692v1" TargetMode="External"/><Relationship Id="rId2" Type="http://schemas.openxmlformats.org/officeDocument/2006/relationships/image" Target="../media/image76.sv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svg"/><Relationship Id="rId7" Type="http://schemas.openxmlformats.org/officeDocument/2006/relationships/image" Target="../media/image82.sv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svg"/><Relationship Id="rId5" Type="http://schemas.openxmlformats.org/officeDocument/2006/relationships/image" Target="../media/image80.svg"/><Relationship Id="rId4" Type="http://schemas.openxmlformats.org/officeDocument/2006/relationships/image" Target="../media/image7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svg"/><Relationship Id="rId2" Type="http://schemas.openxmlformats.org/officeDocument/2006/relationships/image" Target="../media/image8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svg"/><Relationship Id="rId5" Type="http://schemas.openxmlformats.org/officeDocument/2006/relationships/image" Target="../media/image87.svg"/><Relationship Id="rId4" Type="http://schemas.openxmlformats.org/officeDocument/2006/relationships/image" Target="../media/image8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svg"/><Relationship Id="rId2" Type="http://schemas.openxmlformats.org/officeDocument/2006/relationships/image" Target="../media/image8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svg"/><Relationship Id="rId5" Type="http://schemas.openxmlformats.org/officeDocument/2006/relationships/image" Target="../media/image92.svg"/><Relationship Id="rId4" Type="http://schemas.openxmlformats.org/officeDocument/2006/relationships/image" Target="../media/image91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svg"/><Relationship Id="rId3" Type="http://schemas.openxmlformats.org/officeDocument/2006/relationships/image" Target="../media/image95.svg"/><Relationship Id="rId7" Type="http://schemas.openxmlformats.org/officeDocument/2006/relationships/image" Target="../media/image99.svg"/><Relationship Id="rId2" Type="http://schemas.openxmlformats.org/officeDocument/2006/relationships/image" Target="../media/image9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svg"/><Relationship Id="rId5" Type="http://schemas.openxmlformats.org/officeDocument/2006/relationships/image" Target="../media/image97.svg"/><Relationship Id="rId4" Type="http://schemas.openxmlformats.org/officeDocument/2006/relationships/image" Target="../media/image96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-dataport.org/documents/hyperspectral-remote-sensing-datasets-indian-pines-pavia-university-botswana-and-salinas" TargetMode="External"/><Relationship Id="rId2" Type="http://schemas.openxmlformats.org/officeDocument/2006/relationships/hyperlink" Target="https://www.ehu.eus/ccwintco/index.php/Hyperspectral_Remote_Sensing_Scenes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sprs-archives.copernicus.org/articles/XLVIII-2-W11-2025/247/2025/" TargetMode="External"/><Relationship Id="rId5" Type="http://schemas.openxmlformats.org/officeDocument/2006/relationships/hyperlink" Target="https://www.mdpi.com/2072-4292/17/24/4035" TargetMode="External"/><Relationship Id="rId4" Type="http://schemas.openxmlformats.org/officeDocument/2006/relationships/hyperlink" Target="https://arxiv.org/html/2511.15692v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1426964"/>
            <a:ext cx="762000" cy="28575"/>
          </a:xfrm>
          <a:prstGeom prst="rect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79793" y="1699277"/>
            <a:ext cx="2631959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96" b="1" i="0">
                <a:solidFill>
                  <a:srgbClr val="00C2E0"/>
                </a:solidFill>
                <a:latin typeface="Montserrat"/>
              </a:rPr>
              <a:t>Bitirme Projesi Savunması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8851" y="2024904"/>
            <a:ext cx="7773991" cy="29407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378" b="1" i="0">
                <a:solidFill>
                  <a:srgbClr val="FFFFFF"/>
                </a:solidFill>
                <a:latin typeface="Montserrat"/>
              </a:rPr>
              <a:t>Derin Öğrenme Tabanlı Hiperspektral Görüntü Sınıflandırması: Supervised, Semi-Supervised ve Federated Yaklaşımlar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63720" y="5173582"/>
            <a:ext cx="2664105" cy="257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61" b="0" i="0">
                <a:solidFill>
                  <a:srgbClr val="A8C8FF"/>
                </a:solidFill>
                <a:latin typeface="Inter 18pt"/>
              </a:rPr>
              <a:t>Bitirme Projesi Savunması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0703" y="6095847"/>
            <a:ext cx="347028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47" b="0" i="0">
                <a:solidFill>
                  <a:srgbClr val="8892AA"/>
                </a:solidFill>
                <a:latin typeface="Inter 18pt"/>
              </a:rPr>
              <a:t>Sunanlar: Tan Erciyas &amp; Kerem Baydar | Haziran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95499" cy="6858000"/>
          </a:xfrm>
          <a:prstGeom prst="rect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0049" y="2496082"/>
            <a:ext cx="300070" cy="26669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400300" y="804564"/>
            <a:ext cx="571500" cy="19050"/>
          </a:xfrm>
          <a:prstGeom prst="rect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400300" y="1382613"/>
            <a:ext cx="3080444" cy="632817"/>
          </a:xfrm>
          <a:prstGeom prst="roundRect">
            <a:avLst>
              <a:gd name="adj" fmla="val 120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400300" y="1382613"/>
            <a:ext cx="50800" cy="632817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590800" y="1531441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587305" y="1382613"/>
            <a:ext cx="3080444" cy="632817"/>
          </a:xfrm>
          <a:prstGeom prst="roundRect">
            <a:avLst>
              <a:gd name="adj" fmla="val 120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87305" y="1382613"/>
            <a:ext cx="50800" cy="632817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77805" y="1531441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774310" y="1382613"/>
            <a:ext cx="3080444" cy="632817"/>
          </a:xfrm>
          <a:prstGeom prst="roundRect">
            <a:avLst>
              <a:gd name="adj" fmla="val 1204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774310" y="1382613"/>
            <a:ext cx="50800" cy="632817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64810" y="1531441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400300" y="2121991"/>
            <a:ext cx="3080444" cy="552152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00300" y="2121991"/>
            <a:ext cx="50800" cy="55215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590800" y="2230487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587305" y="2121991"/>
            <a:ext cx="3080444" cy="552152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87305" y="2121991"/>
            <a:ext cx="50800" cy="55215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77805" y="2230487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774310" y="2121991"/>
            <a:ext cx="3080444" cy="552152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774310" y="2121991"/>
            <a:ext cx="50800" cy="55215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964810" y="2230487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400300" y="2780704"/>
            <a:ext cx="3080444" cy="552152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400300" y="2780704"/>
            <a:ext cx="50800" cy="55215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590800" y="2889200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587305" y="2780704"/>
            <a:ext cx="3080444" cy="552152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87305" y="2780704"/>
            <a:ext cx="50800" cy="55215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777805" y="2889200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774310" y="2780704"/>
            <a:ext cx="3080444" cy="552152"/>
          </a:xfrm>
          <a:prstGeom prst="roundRect">
            <a:avLst>
              <a:gd name="adj" fmla="val 138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74310" y="2780704"/>
            <a:ext cx="50800" cy="552152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64810" y="2889200"/>
            <a:ext cx="335160" cy="33516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8189" y="2964582"/>
            <a:ext cx="219069" cy="1416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13" b="1" i="0">
                <a:solidFill>
                  <a:srgbClr val="00C2E0"/>
                </a:solidFill>
                <a:latin typeface="Montserrat"/>
              </a:rPr>
              <a:t>İçindekiler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00239" y="264758"/>
            <a:ext cx="2030560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İçindekiler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00239" y="995039"/>
            <a:ext cx="9416864" cy="2095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82" b="0" i="0">
                <a:solidFill>
                  <a:srgbClr val="0D1B4B"/>
                </a:solidFill>
                <a:latin typeface="Inter 18pt"/>
              </a:rPr>
              <a:t>Problem motivasyonundan deneysel bulgulara uzanan yapılandırılmış bir yolculuk — bu slayt her ana bölümü önizler.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17980" y="1567567"/>
            <a:ext cx="91440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40184" y="1491071"/>
            <a:ext cx="2274780" cy="3984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Hiperspektral Görüntülemeye Giriş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84516" y="1567567"/>
            <a:ext cx="121440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27110" y="1594951"/>
            <a:ext cx="1684245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Kıyaslama Veri Setleri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1144" y="1567567"/>
            <a:ext cx="121887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4036" y="1594951"/>
            <a:ext cx="151473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Veri Ön İşleme Hattı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87322" y="2266595"/>
            <a:ext cx="141829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40184" y="2293979"/>
            <a:ext cx="158840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Eğitim Paradigmaları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83921" y="2266595"/>
            <a:ext cx="122482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27110" y="2293979"/>
            <a:ext cx="1294921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Model Mimarileri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6531" y="2266595"/>
            <a:ext cx="131114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4036" y="2293979"/>
            <a:ext cx="1407730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Deneysel Kurulum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94465" y="2925292"/>
            <a:ext cx="127542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40184" y="2952676"/>
            <a:ext cx="217179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Sonuçlar ve Karşılaştırmalar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7224" y="2925292"/>
            <a:ext cx="135876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27110" y="2952676"/>
            <a:ext cx="89041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GUI Sistemi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66531" y="2925292"/>
            <a:ext cx="131114" cy="2476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24" b="1" i="0">
                <a:solidFill>
                  <a:srgbClr val="FFFFFF"/>
                </a:solidFill>
                <a:latin typeface="Montserrat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4036" y="2952676"/>
            <a:ext cx="142737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1E2A40"/>
                </a:solidFill>
                <a:latin typeface="Inter 18pt"/>
              </a:rPr>
              <a:t>Sonuç ve Tartışma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815780" cy="6858000"/>
          </a:xfrm>
          <a:prstGeom prst="rect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9610" y="2103186"/>
            <a:ext cx="2476438" cy="209544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100583" y="4427339"/>
            <a:ext cx="2824162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1B2A6B"/>
              </a:gs>
              <a:gs pos="40000">
                <a:srgbClr val="7B4FFF"/>
              </a:gs>
              <a:gs pos="70000">
                <a:srgbClr val="00C2E0"/>
              </a:gs>
              <a:gs pos="100000">
                <a:srgbClr val="2ECC71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00583" y="4667250"/>
            <a:ext cx="2824162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2ECC71"/>
              </a:gs>
              <a:gs pos="100000">
                <a:srgbClr val="F5A623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00583" y="4907160"/>
            <a:ext cx="2824162" cy="571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5A623"/>
              </a:gs>
              <a:gs pos="100000">
                <a:srgbClr val="E74C3C"/>
              </a:gs>
            </a:gsLst>
            <a:lin ang="108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120580" y="866328"/>
            <a:ext cx="457200" cy="28575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580" y="1001464"/>
            <a:ext cx="6766619" cy="556617"/>
          </a:xfrm>
          <a:prstGeom prst="rect">
            <a:avLst/>
          </a:prstGeom>
          <a:solidFill>
            <a:srgbClr val="EE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580" y="1001464"/>
            <a:ext cx="38100" cy="556617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45382" y="1817443"/>
            <a:ext cx="192474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A8C8FF"/>
                </a:solidFill>
                <a:latin typeface="Montserrat"/>
              </a:rPr>
              <a:t>Hiperspektral Veri Küpü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0722" y="4398654"/>
            <a:ext cx="358964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90" b="0" i="0">
                <a:solidFill>
                  <a:srgbClr val="A8C8FF"/>
                </a:solidFill>
                <a:latin typeface="Inter 18pt"/>
              </a:rPr>
              <a:t>Görünür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5517" y="4351030"/>
            <a:ext cx="252555" cy="209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7986A3"/>
                </a:solidFill>
                <a:latin typeface="Inter 18pt"/>
              </a:rPr>
              <a:t>0.4–0.7µm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676" y="4638558"/>
            <a:ext cx="410011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90" b="0" i="0">
                <a:solidFill>
                  <a:srgbClr val="A8C8FF"/>
                </a:solidFill>
                <a:latin typeface="Inter 18pt"/>
              </a:rPr>
              <a:t>Yakın-KÖ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85517" y="4590935"/>
            <a:ext cx="243327" cy="209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7986A3"/>
                </a:solidFill>
                <a:latin typeface="Inter 18pt"/>
              </a:rPr>
              <a:t>0.7–1.4µm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085" y="4878463"/>
            <a:ext cx="360601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90" b="0" i="0">
                <a:solidFill>
                  <a:srgbClr val="A8C8FF"/>
                </a:solidFill>
                <a:latin typeface="Inter 18pt"/>
              </a:rPr>
              <a:t>Kısa-KÖ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85517" y="4830840"/>
            <a:ext cx="255382" cy="2095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7986A3"/>
                </a:solidFill>
                <a:latin typeface="Inter 18pt"/>
              </a:rPr>
              <a:t>1.4–2.5µm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452" y="468201"/>
            <a:ext cx="5244274" cy="35241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005" b="1" i="0">
                <a:solidFill>
                  <a:srgbClr val="1B2A6B"/>
                </a:solidFill>
                <a:latin typeface="Montserrat"/>
              </a:rPr>
              <a:t>Hiperspektral Görüntüleme Nedir?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9026" y="1010845"/>
            <a:ext cx="6450198" cy="527969"/>
          </a:xfrm>
          <a:prstGeom prst="rect">
            <a:avLst/>
          </a:prstGeom>
          <a:noFill/>
        </p:spPr>
        <p:txBody>
          <a:bodyPr wrap="square" lIns="114297" tIns="68578" rIns="0" bIns="68578">
            <a:spAutoFit/>
          </a:bodyPr>
          <a:lstStyle/>
          <a:p>
            <a:pPr algn="l"/>
            <a:r>
              <a:rPr sz="1059" b="0" i="1">
                <a:solidFill>
                  <a:srgbClr val="0D1B4B"/>
                </a:solidFill>
                <a:latin typeface="Inter 18pt"/>
              </a:rPr>
              <a:t>Hiperspektral sensörler, piksel başına yüzlerce sürekli spektral bant yakalayarak standart RGB veya çok bantlı görüntülerle mümkün olmayan malzeme düzeyinde ayrımı sağlar.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89253" y="6511216"/>
            <a:ext cx="29764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2" b="0" i="0">
                <a:solidFill>
                  <a:srgbClr val="505A73"/>
                </a:solidFill>
                <a:latin typeface="Inter 18pt"/>
              </a:rPr>
              <a:t>3 / 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452" y="1695109"/>
            <a:ext cx="6766450" cy="20981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62962" indent="-162962" algn="l">
              <a:lnSpc>
                <a:spcPts val="1437"/>
              </a:lnSpc>
              <a:spcBef>
                <a:spcPts val="0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03" b="1" i="0">
                <a:solidFill>
                  <a:srgbClr val="1B2A6B"/>
                </a:solidFill>
                <a:latin typeface="Inter 18pt"/>
              </a:rPr>
              <a:t>Spektral derinlik: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Konvansiyonel kameralar 3 bant (R, G, B) yakalarken; hiperspektral sensörler görünür ışıktan kızılötesine kadar (0,4–2,5 µm) uzanan yüzlerce dar, sürekli bant yakalar</a:t>
            </a:r>
            <a:r>
              <a:rPr sz="869" b="0" i="0">
                <a:solidFill>
                  <a:srgbClr val="007B96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7B96"/>
                </a:solidFill>
                <a:latin typeface="Inter 18pt"/>
                <a:hlinkClick r:id="rId3" tooltip="Hyperspectral Remote Sensing Datasets: Indian Pines, 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  <a:p>
            <a:pPr marL="162962" indent="-162962" algn="l">
              <a:lnSpc>
                <a:spcPts val="1437"/>
              </a:lnSpc>
              <a:spcBef>
                <a:spcPts val="53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03" b="1" i="0">
                <a:solidFill>
                  <a:srgbClr val="1B2A6B"/>
                </a:solidFill>
                <a:latin typeface="Inter 18pt"/>
              </a:rPr>
              <a:t>Spektral parmak izi: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Her piksel tam bir spektral imza içerir — arazi örtüsü, bitki türü ve mineral bileşiminin tanımlanmasını sağlar</a:t>
            </a:r>
          </a:p>
          <a:p>
            <a:pPr marL="162962" indent="-162962" algn="l">
              <a:lnSpc>
                <a:spcPts val="1437"/>
              </a:lnSpc>
              <a:spcBef>
                <a:spcPts val="53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03" b="1" i="0">
                <a:solidFill>
                  <a:srgbClr val="1B2A6B"/>
                </a:solidFill>
                <a:latin typeface="Inter 18pt"/>
              </a:rPr>
              <a:t>Sensör platformları: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Hava platformları (AVIRIS, ROSIS) ve uydu sistemleri (Hyperion/EO-1)</a:t>
            </a:r>
          </a:p>
          <a:p>
            <a:pPr marL="162962" indent="-162962" algn="l">
              <a:lnSpc>
                <a:spcPts val="1437"/>
              </a:lnSpc>
              <a:spcBef>
                <a:spcPts val="53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03" b="1" i="0">
                <a:solidFill>
                  <a:srgbClr val="1B2A6B"/>
                </a:solidFill>
                <a:latin typeface="Inter 18pt"/>
              </a:rPr>
              <a:t>Temel zorluk: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"Boyutsallık laneti" — yüzlerce bant fazlalık yaratır ve sınıflandırma öncesinde boyut indirgeme gerektirir</a:t>
            </a:r>
          </a:p>
          <a:p>
            <a:pPr marL="162962" indent="-162962" algn="l">
              <a:lnSpc>
                <a:spcPts val="1437"/>
              </a:lnSpc>
              <a:spcBef>
                <a:spcPts val="53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03" b="1" i="0">
                <a:solidFill>
                  <a:srgbClr val="1B2A6B"/>
                </a:solidFill>
                <a:latin typeface="Inter 18pt"/>
              </a:rPr>
              <a:t>Uygulama alanları: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Tarım, kentsel haritalama, maden arama, çevre izleme, hassas tarım</a:t>
            </a:r>
          </a:p>
        </p:txBody>
      </p:sp>
      <p:sp>
        <p:nvSpPr>
          <p:cNvPr id="22" name="TextBox 89">
            <a:extLst>
              <a:ext uri="{FF2B5EF4-FFF2-40B4-BE49-F238E27FC236}">
                <a16:creationId xmlns:a16="http://schemas.microsoft.com/office/drawing/2014/main" id="{615E55C3-CF4D-DA4A-7532-052D1B0423A8}"/>
              </a:ext>
            </a:extLst>
          </p:cNvPr>
          <p:cNvSpPr txBox="1"/>
          <p:nvPr/>
        </p:nvSpPr>
        <p:spPr>
          <a:xfrm>
            <a:off x="5120452" y="6511216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6690" y="995808"/>
            <a:ext cx="11338619" cy="615553"/>
          </a:xfrm>
          <a:prstGeom prst="roundRect">
            <a:avLst>
              <a:gd name="adj" fmla="val 9284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26690" y="995808"/>
            <a:ext cx="50800" cy="615553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6690" y="1748432"/>
            <a:ext cx="3677989" cy="4273897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09451" y="1954113"/>
            <a:ext cx="419100" cy="419100"/>
          </a:xfrm>
          <a:prstGeom prst="ellipse">
            <a:avLst/>
          </a:prstGeom>
          <a:solidFill>
            <a:srgbClr val="4A5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02" y="2072230"/>
            <a:ext cx="182756" cy="18275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609451" y="2999928"/>
            <a:ext cx="57150" cy="57150"/>
          </a:xfrm>
          <a:prstGeom prst="ellipse">
            <a:avLst/>
          </a:prstGeom>
          <a:solidFill>
            <a:srgbClr val="889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09451" y="3457128"/>
            <a:ext cx="57150" cy="57150"/>
          </a:xfrm>
          <a:prstGeom prst="ellipse">
            <a:avLst/>
          </a:prstGeom>
          <a:solidFill>
            <a:srgbClr val="889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09451" y="3914328"/>
            <a:ext cx="57150" cy="57150"/>
          </a:xfrm>
          <a:prstGeom prst="ellipse">
            <a:avLst/>
          </a:prstGeom>
          <a:solidFill>
            <a:srgbClr val="889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09451" y="4177158"/>
            <a:ext cx="57150" cy="57150"/>
          </a:xfrm>
          <a:prstGeom prst="ellipse">
            <a:avLst/>
          </a:prstGeom>
          <a:solidFill>
            <a:srgbClr val="889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57079" y="1748432"/>
            <a:ext cx="3677989" cy="4273897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39840" y="1954113"/>
            <a:ext cx="419100" cy="419100"/>
          </a:xfrm>
          <a:prstGeom prst="ellipse">
            <a:avLst/>
          </a:prstGeom>
          <a:solidFill>
            <a:srgbClr val="006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8049" y="2082392"/>
            <a:ext cx="162449" cy="162434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439840" y="2999928"/>
            <a:ext cx="57150" cy="5715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439840" y="3457128"/>
            <a:ext cx="57150" cy="5715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39840" y="3914328"/>
            <a:ext cx="57150" cy="5715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439840" y="4371528"/>
            <a:ext cx="57150" cy="5715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87469" y="1748432"/>
            <a:ext cx="3677989" cy="4273897"/>
          </a:xfrm>
          <a:prstGeom prst="roundRect">
            <a:avLst>
              <a:gd name="adj" fmla="val 25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70230" y="1954113"/>
            <a:ext cx="419100" cy="41910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88197" y="2092537"/>
            <a:ext cx="182772" cy="142143"/>
          </a:xfrm>
          <a:prstGeom prst="rect">
            <a:avLst/>
          </a:prstGeom>
        </p:spPr>
      </p:pic>
      <p:sp>
        <p:nvSpPr>
          <p:cNvPr id="22" name="Oval 21"/>
          <p:cNvSpPr/>
          <p:nvPr/>
        </p:nvSpPr>
        <p:spPr>
          <a:xfrm>
            <a:off x="8270230" y="2999928"/>
            <a:ext cx="57150" cy="5715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270230" y="3457128"/>
            <a:ext cx="57150" cy="5715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70230" y="4108698"/>
            <a:ext cx="57150" cy="5715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70230" y="4371528"/>
            <a:ext cx="57150" cy="5715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26690" y="6106120"/>
            <a:ext cx="11338619" cy="311943"/>
          </a:xfrm>
          <a:prstGeom prst="roundRect">
            <a:avLst>
              <a:gd name="adj" fmla="val 18320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6679" y="304792"/>
            <a:ext cx="37295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007C90"/>
                </a:solidFill>
                <a:latin typeface="Montserrat"/>
              </a:rPr>
              <a:t>Giriş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6679" y="464778"/>
            <a:ext cx="9001941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HSI Sınıflandırmasında Neden Derin Öğrenme?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354" y="1089096"/>
            <a:ext cx="10679639" cy="414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FFFFFF"/>
                </a:solidFill>
                <a:latin typeface="Inter 18pt"/>
              </a:rPr>
              <a:t>Derin öğrenme, spektral-uzamsal verilerden hiyerarşik özellik çıkarımını otomatikleştirerek standart kıyaslamalarda el yapımı özellik yöntemlerini tutarlı biçimde geride bırakır.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435" y="2479712"/>
            <a:ext cx="162322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7" b="1" i="0">
                <a:solidFill>
                  <a:srgbClr val="6E768A"/>
                </a:solidFill>
                <a:latin typeface="Montserrat"/>
              </a:rPr>
              <a:t>Geleneksel Yöntemler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9435" y="2643419"/>
            <a:ext cx="193218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1B2A6B"/>
                </a:solidFill>
                <a:latin typeface="Montserrat"/>
              </a:rPr>
              <a:t>SVM &amp; Rastgele Orman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5043" y="2951485"/>
            <a:ext cx="2736285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Elle mühendislik yapılmış spektral özelliklere dayanır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5" tooltip="Hyperspectral Image Classification using Spectr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043" y="3408674"/>
            <a:ext cx="3119061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Yüzlerce yüksek boyutlu spektral bantla mücadele eder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5043" y="3865862"/>
            <a:ext cx="2635680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Uzamsal yapıyı yakalamada sınırlı kapasite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5043" y="4128686"/>
            <a:ext cx="2880347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Özellik öğrenimi olmadan performans tavanına ulaşılır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9729" y="2479712"/>
            <a:ext cx="152068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7" b="1" i="0">
                <a:solidFill>
                  <a:srgbClr val="00819D"/>
                </a:solidFill>
                <a:latin typeface="Montserrat"/>
              </a:rPr>
              <a:t>Derin CNN Mimarileri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9729" y="2643419"/>
            <a:ext cx="149836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1B2A6B"/>
                </a:solidFill>
                <a:latin typeface="Montserrat"/>
              </a:rPr>
              <a:t>2D CNN &amp; 3D CNN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5337" y="2951485"/>
            <a:ext cx="3133348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643CDC"/>
                </a:solidFill>
                <a:latin typeface="Inter 18pt"/>
              </a:rPr>
              <a:t>2D CNN</a:t>
            </a:r>
            <a:r>
              <a:rPr sz="981" b="0" i="0">
                <a:solidFill>
                  <a:srgbClr val="1E2A40"/>
                </a:solidFill>
                <a:latin typeface="Inter 18pt"/>
              </a:rPr>
              <a:t> : PCA ile küçültülmüş yamalardan uzamsal dokuyu yakalar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6" tooltip="Hyperspectral Image Classification with Multi-Path 3D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5337" y="3408674"/>
            <a:ext cx="2908028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1" i="0">
                <a:solidFill>
                  <a:srgbClr val="643CDC"/>
                </a:solidFill>
                <a:latin typeface="Inter 18pt"/>
              </a:rPr>
              <a:t>3D CNN</a:t>
            </a:r>
            <a:r>
              <a:rPr sz="981" b="0" i="0">
                <a:solidFill>
                  <a:srgbClr val="1E2A40"/>
                </a:solidFill>
                <a:latin typeface="Inter 18pt"/>
              </a:rPr>
              <a:t> : hacimsel evrişim ile spektral-uzamsal yapıyı birlikte modeller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6" tooltip="Hyperspectral Image Classification with Multi-Path 3D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65337" y="3865862"/>
            <a:ext cx="2627494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Otomatik hiyerarşik özellik öğrenimi — elle müdahale gerekmez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65337" y="4323051"/>
            <a:ext cx="2409913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Üç kıyaslama veri setinde de verimli ve ölçeklenebilir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0023" y="2479712"/>
            <a:ext cx="106230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17" b="1" i="0">
                <a:solidFill>
                  <a:srgbClr val="7B4FFF"/>
                </a:solidFill>
                <a:latin typeface="Montserrat"/>
              </a:rPr>
              <a:t>Dikkat Tabanlı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0023" y="2643419"/>
            <a:ext cx="200466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7" b="1" i="0">
                <a:solidFill>
                  <a:srgbClr val="1B2A6B"/>
                </a:solidFill>
                <a:latin typeface="Montserrat"/>
              </a:rPr>
              <a:t>Vision Transformer (ViT)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95630" y="2951485"/>
            <a:ext cx="3090189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Öz-dikkat, uzun menzilli küresel spektral-uzamsal bağımlılıkları modeller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6" tooltip="Hyperspectral Image Classification with Multi-Path 3D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5630" y="3408674"/>
            <a:ext cx="3024260" cy="5506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Araştırma trendi: hibrit/dikkat mimarileri kıyaslamalarda %99'un üzerinde Genel Doğruluk elde ediyor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6" tooltip="Hyperspectral Image Classification with Multi-Path 3D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5630" y="4060227"/>
            <a:ext cx="306265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En ifadeli mimari — ancak en fazla veri gerektiren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95630" y="4323051"/>
            <a:ext cx="3177400" cy="3562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Etiket kıtlığını yarı-gözetimli &amp; federated stratejilerle ele alır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9075" y="6183951"/>
            <a:ext cx="723703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B2A6B"/>
                </a:solidFill>
                <a:latin typeface="Inter 18pt"/>
              </a:rPr>
              <a:t>Bu tez, üç kanonik veri setinde</a:t>
            </a:r>
            <a:r>
              <a:rPr sz="894" b="1" i="0">
                <a:solidFill>
                  <a:srgbClr val="643CDC"/>
                </a:solidFill>
                <a:latin typeface="Inter 18pt"/>
              </a:rPr>
              <a:t> üç farklı eğitim paradigması</a:t>
            </a:r>
            <a:r>
              <a:rPr sz="914" b="0" i="0">
                <a:solidFill>
                  <a:srgbClr val="1B2A6B"/>
                </a:solidFill>
                <a:latin typeface="Inter 18pt"/>
              </a:rPr>
              <a:t> altında üç mimari ailesinin tamamını kıyaslar — toplam</a:t>
            </a:r>
            <a:r>
              <a:rPr sz="894" b="1" i="0">
                <a:solidFill>
                  <a:srgbClr val="643CDC"/>
                </a:solidFill>
                <a:latin typeface="Inter 18pt"/>
              </a:rPr>
              <a:t> 27 model</a:t>
            </a:r>
            <a:r>
              <a:rPr sz="914" b="0" i="0">
                <a:solidFill>
                  <a:srgbClr val="1B2A6B"/>
                </a:solidFill>
                <a:latin typeface="Inter 18pt"/>
              </a:rPr>
              <a:t> 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365124" y="6501691"/>
            <a:ext cx="39989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A7184"/>
                </a:solidFill>
                <a:latin typeface="Inter 18pt"/>
              </a:rPr>
              <a:t>04 / 22</a:t>
            </a:r>
          </a:p>
        </p:txBody>
      </p:sp>
      <p:sp>
        <p:nvSpPr>
          <p:cNvPr id="51" name="TextBox 89">
            <a:extLst>
              <a:ext uri="{FF2B5EF4-FFF2-40B4-BE49-F238E27FC236}">
                <a16:creationId xmlns:a16="http://schemas.microsoft.com/office/drawing/2014/main" id="{127C9A90-C714-FE0B-3164-CFAAA5E9859D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380529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540519"/>
            <a:ext cx="3688109" cy="4875758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3285" y="169425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4649" y="1785595"/>
            <a:ext cx="159986" cy="15998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0208" y="2645450"/>
            <a:ext cx="110989" cy="11097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271" y="3085046"/>
            <a:ext cx="124888" cy="10925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280" y="3523780"/>
            <a:ext cx="124854" cy="10925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90525" y="6368653"/>
            <a:ext cx="3669059" cy="38100"/>
          </a:xfrm>
          <a:prstGeom prst="rect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51870" y="1540519"/>
            <a:ext cx="3688109" cy="4875758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44156" y="169425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35431" y="1785622"/>
            <a:ext cx="159994" cy="159982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0982" y="2645450"/>
            <a:ext cx="110989" cy="110978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4045" y="3085046"/>
            <a:ext cx="124888" cy="109258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4045" y="3330838"/>
            <a:ext cx="124863" cy="12486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261395" y="6368653"/>
            <a:ext cx="3669059" cy="3810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22741" y="1540519"/>
            <a:ext cx="3688109" cy="4875758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315027" y="1694259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007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6197" y="1801593"/>
            <a:ext cx="159986" cy="127988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755" y="2645450"/>
            <a:ext cx="110990" cy="110978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4819" y="3085046"/>
            <a:ext cx="124888" cy="109258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14819" y="3515976"/>
            <a:ext cx="124863" cy="12486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8132266" y="6368653"/>
            <a:ext cx="3669059" cy="38100"/>
          </a:xfrm>
          <a:prstGeom prst="rect">
            <a:avLst/>
          </a:prstGeom>
          <a:solidFill>
            <a:srgbClr val="007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0990" y="306578"/>
            <a:ext cx="4138955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Kıyaslama Veri Setleri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90" y="792638"/>
            <a:ext cx="10908828" cy="4549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82" b="0" i="0">
                <a:solidFill>
                  <a:srgbClr val="0D1B4B"/>
                </a:solidFill>
                <a:latin typeface="Inter 18pt"/>
              </a:rPr>
              <a:t>Tarımsal, vadi ve kentsel sahneleri kapsayan üç yaygın halka açık kıyaslama, titiz çok veri setli değerlendirme için tamamlayıcı zorluklar sunar.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0460" y="1679483"/>
            <a:ext cx="1108146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1" b="1" i="0">
                <a:solidFill>
                  <a:srgbClr val="1B2A6B"/>
                </a:solidFill>
                <a:latin typeface="Montserrat"/>
              </a:rPr>
              <a:t>Indian Pines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0460" y="1899445"/>
            <a:ext cx="211911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5A6480"/>
                </a:solidFill>
                <a:latin typeface="Inter 18pt"/>
              </a:rPr>
              <a:t>AVIRIS sensörü · Kuzey Indiana, ABD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3241" y="2344978"/>
            <a:ext cx="875891" cy="197734"/>
          </a:xfrm>
          <a:prstGeom prst="rect">
            <a:avLst/>
          </a:prstGeom>
          <a:solidFill>
            <a:srgbClr val="E8EDF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76" b="1" i="0">
                <a:solidFill>
                  <a:srgbClr val="1B2A6B"/>
                </a:solidFill>
                <a:latin typeface="Microsoft YaHei"/>
              </a:rPr>
              <a:t>145 × 145 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9942" y="2344978"/>
            <a:ext cx="783768" cy="197734"/>
          </a:xfrm>
          <a:prstGeom prst="rect">
            <a:avLst/>
          </a:prstGeom>
          <a:solidFill>
            <a:srgbClr val="E8EDF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850" b="1" i="0">
                <a:solidFill>
                  <a:srgbClr val="1B2A6B"/>
                </a:solidFill>
                <a:latin typeface="Inter 18pt"/>
              </a:rPr>
              <a:t>200 bands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54521" y="2344978"/>
            <a:ext cx="756682" cy="197734"/>
          </a:xfrm>
          <a:prstGeom prst="rect">
            <a:avLst/>
          </a:prstGeom>
          <a:solidFill>
            <a:srgbClr val="E8EDF8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850" b="1" i="0">
                <a:solidFill>
                  <a:srgbClr val="1B2A6B"/>
                </a:solidFill>
                <a:latin typeface="Inter 18pt"/>
              </a:rPr>
              <a:t>16 classes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333" y="2620648"/>
            <a:ext cx="2748935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Sahne: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Ağırlıklı olarak tarımsal arazi, orman parçaları karışık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4333" y="3059383"/>
            <a:ext cx="3089296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Ön İşleme: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Su absorpsiyon bantları çıkarıldı; 200 bant korundu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4333" y="3498117"/>
            <a:ext cx="3021135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Zorluk: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Ciddi sınıf dengesizliği — bu çalışmanın en zorlu kıyaslaması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1845" y="4003525"/>
            <a:ext cx="3022028" cy="438139"/>
          </a:xfrm>
          <a:prstGeom prst="rect">
            <a:avLst/>
          </a:prstGeom>
          <a:solidFill>
            <a:srgbClr val="E8EDF8"/>
          </a:solidFill>
        </p:spPr>
        <p:txBody>
          <a:bodyPr wrap="square" lIns="114297" tIns="76198" rIns="114297" bIns="76198">
            <a:spAutoFit/>
          </a:bodyPr>
          <a:lstStyle/>
          <a:p>
            <a:pPr algn="l"/>
            <a:r>
              <a:rPr sz="869" b="0" i="1">
                <a:solidFill>
                  <a:srgbClr val="4A3080"/>
                </a:solidFill>
                <a:latin typeface="Inter 18pt"/>
              </a:rPr>
              <a:t>[EKLE: Yanlış renkli görüntü ve Indian Pines gerçek zemin haritası]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01234" y="1679483"/>
            <a:ext cx="630420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1" b="1" i="0">
                <a:solidFill>
                  <a:srgbClr val="1B2A6B"/>
                </a:solidFill>
                <a:latin typeface="Montserrat"/>
              </a:rPr>
              <a:t>Salinas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01234" y="1899445"/>
            <a:ext cx="272244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5A6480"/>
                </a:solidFill>
                <a:latin typeface="Inter 18pt"/>
              </a:rPr>
              <a:t>AVIRIS sensörü · Salinas Vadisi, California, ABD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44015" y="2344978"/>
            <a:ext cx="858627" cy="197734"/>
          </a:xfrm>
          <a:prstGeom prst="rect">
            <a:avLst/>
          </a:prstGeom>
          <a:solidFill>
            <a:srgbClr val="EEE8FF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76" b="1" i="0">
                <a:solidFill>
                  <a:srgbClr val="5A2ECC"/>
                </a:solidFill>
                <a:latin typeface="Microsoft YaHei"/>
              </a:rPr>
              <a:t>512 × 217 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63452" y="2344978"/>
            <a:ext cx="784066" cy="197734"/>
          </a:xfrm>
          <a:prstGeom prst="rect">
            <a:avLst/>
          </a:prstGeom>
          <a:solidFill>
            <a:srgbClr val="EEE8FF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850" b="1" i="0">
                <a:solidFill>
                  <a:srgbClr val="5A2ECC"/>
                </a:solidFill>
                <a:latin typeface="Inter 18pt"/>
              </a:rPr>
              <a:t>204 bands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08328" y="2344978"/>
            <a:ext cx="756682" cy="197734"/>
          </a:xfrm>
          <a:prstGeom prst="rect">
            <a:avLst/>
          </a:prstGeom>
          <a:solidFill>
            <a:srgbClr val="EEE8FF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850" b="1" i="0">
                <a:solidFill>
                  <a:srgbClr val="5A2ECC"/>
                </a:solidFill>
                <a:latin typeface="Inter 18pt"/>
              </a:rPr>
              <a:t>16 classes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45107" y="2620648"/>
            <a:ext cx="3021879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Çözünürlük: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Yüksek uzamsal çözünürlük — 3,7 m/piksel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45107" y="3059383"/>
            <a:ext cx="3071884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Sahne: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Sebzeler, çıplak topraklar ve bağ tarlaları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45107" y="3312980"/>
            <a:ext cx="3078432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Avantaj: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Görece dengeli sınıflar — genelleştirme testi için uygun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72619" y="3818387"/>
            <a:ext cx="3115192" cy="438139"/>
          </a:xfrm>
          <a:prstGeom prst="rect">
            <a:avLst/>
          </a:prstGeom>
          <a:solidFill>
            <a:srgbClr val="E8EDF8"/>
          </a:solidFill>
        </p:spPr>
        <p:txBody>
          <a:bodyPr wrap="square" lIns="114297" tIns="76198" rIns="114297" bIns="76198">
            <a:spAutoFit/>
          </a:bodyPr>
          <a:lstStyle/>
          <a:p>
            <a:pPr algn="l"/>
            <a:r>
              <a:rPr sz="869" b="0" i="1">
                <a:solidFill>
                  <a:srgbClr val="4A3080"/>
                </a:solidFill>
                <a:latin typeface="Inter 18pt"/>
              </a:rPr>
              <a:t>[EKLE: Yanlış renkli görüntü ve Salinas gerçek zemin haritası]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2007" y="1679483"/>
            <a:ext cx="1430797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81" b="1" i="0">
                <a:solidFill>
                  <a:srgbClr val="1B2A6B"/>
                </a:solidFill>
                <a:latin typeface="Montserrat"/>
              </a:rPr>
              <a:t>Pavia University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2007" y="1899445"/>
            <a:ext cx="204782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5A6480"/>
                </a:solidFill>
                <a:latin typeface="Inter 18pt"/>
              </a:rPr>
              <a:t>ROSIS sensörü · Pavia, Kuzey İtalya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14789" y="2344978"/>
            <a:ext cx="910567" cy="197734"/>
          </a:xfrm>
          <a:prstGeom prst="rect">
            <a:avLst/>
          </a:prstGeom>
          <a:solidFill>
            <a:srgbClr val="DFF7FC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776" b="1" i="0">
                <a:solidFill>
                  <a:srgbClr val="007A8E"/>
                </a:solidFill>
                <a:latin typeface="Microsoft YaHei"/>
              </a:rPr>
              <a:t>610 × 340 px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86166" y="2344978"/>
            <a:ext cx="756533" cy="197734"/>
          </a:xfrm>
          <a:prstGeom prst="rect">
            <a:avLst/>
          </a:prstGeom>
          <a:solidFill>
            <a:srgbClr val="DFF7FC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850" b="1" i="0">
                <a:solidFill>
                  <a:srgbClr val="007A8E"/>
                </a:solidFill>
                <a:latin typeface="Inter 18pt"/>
              </a:rPr>
              <a:t>103 bands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03510" y="2344978"/>
            <a:ext cx="706528" cy="197734"/>
          </a:xfrm>
          <a:prstGeom prst="rect">
            <a:avLst/>
          </a:prstGeom>
          <a:solidFill>
            <a:srgbClr val="DFF7FC"/>
          </a:solidFill>
        </p:spPr>
        <p:txBody>
          <a:bodyPr wrap="none" lIns="83817" tIns="27431" rIns="83817" bIns="27431">
            <a:spAutoFit/>
          </a:bodyPr>
          <a:lstStyle/>
          <a:p>
            <a:pPr algn="l"/>
            <a:r>
              <a:rPr sz="850" b="1" i="0">
                <a:solidFill>
                  <a:srgbClr val="007A8E"/>
                </a:solidFill>
                <a:latin typeface="Inter 18pt"/>
              </a:rPr>
              <a:t>9 classes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15881" y="2620648"/>
            <a:ext cx="2923953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Çözünürlük: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İnce geometrik çözünürlük — 1,3 m/piksel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15881" y="3059383"/>
            <a:ext cx="2938240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Sahne: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Kentsel — asfalt, çayır, ağaçlar, binalar ve daha fazlası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15881" y="3498117"/>
            <a:ext cx="3029171" cy="3470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1" i="0">
                <a:solidFill>
                  <a:srgbClr val="1B2A6B"/>
                </a:solidFill>
                <a:latin typeface="Inter 18pt"/>
              </a:rPr>
              <a:t>Alan:</a:t>
            </a:r>
            <a:r>
              <a:rPr sz="1003" b="0" i="0">
                <a:solidFill>
                  <a:srgbClr val="1E2A40"/>
                </a:solidFill>
                <a:latin typeface="Inter 18pt"/>
              </a:rPr>
              <a:t> Tarımsal sahnelerden yapısal olarak farklı; alan transferini test eder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3393" y="4003525"/>
            <a:ext cx="3243479" cy="438139"/>
          </a:xfrm>
          <a:prstGeom prst="rect">
            <a:avLst/>
          </a:prstGeom>
          <a:solidFill>
            <a:srgbClr val="E8EDF8"/>
          </a:solidFill>
        </p:spPr>
        <p:txBody>
          <a:bodyPr wrap="square" lIns="114297" tIns="76198" rIns="114297" bIns="76198">
            <a:spAutoFit/>
          </a:bodyPr>
          <a:lstStyle/>
          <a:p>
            <a:pPr algn="l"/>
            <a:r>
              <a:rPr sz="869" b="0" i="1">
                <a:solidFill>
                  <a:srgbClr val="4A3080"/>
                </a:solidFill>
                <a:latin typeface="Inter 18pt"/>
              </a:rPr>
              <a:t>[EKLE: Yanlış renkli görüntü ve Pavia University gerçek zemin haritası]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0990" y="6522675"/>
            <a:ext cx="98923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5A6070"/>
                </a:solidFill>
                <a:latin typeface="Inter 18pt"/>
              </a:rPr>
              <a:t>Kaynaklar:</a:t>
            </a:r>
            <a:r>
              <a:rPr sz="947" b="0" i="0">
                <a:solidFill>
                  <a:srgbClr val="005F7A"/>
                </a:solidFill>
                <a:latin typeface="Inter 18pt"/>
              </a:rPr>
              <a:t> </a:t>
            </a:r>
            <a:r>
              <a:rPr sz="947" b="0" i="0">
                <a:solidFill>
                  <a:srgbClr val="005F7A"/>
                </a:solidFill>
                <a:latin typeface="Inter 18pt"/>
                <a:hlinkClick r:id="rId10" tooltip="Hyperspectral Remote Sensing Scenes - Grupo de Inteli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sz="947" b="0" i="0">
                <a:solidFill>
                  <a:srgbClr val="005F7A"/>
                </a:solidFill>
                <a:latin typeface="Inter 18pt"/>
              </a:rPr>
              <a:t> </a:t>
            </a:r>
            <a:r>
              <a:rPr sz="947" b="0" i="0">
                <a:solidFill>
                  <a:srgbClr val="005F7A"/>
                </a:solidFill>
                <a:latin typeface="Inter 18pt"/>
                <a:hlinkClick r:id="rId11" tooltip="Hyperspectral Remote Sensing Datasets: Indian Pines, 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91327" y="6527438"/>
            <a:ext cx="31937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5A6070"/>
                </a:solidFill>
                <a:latin typeface="Inter 18pt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35160" y="2757785"/>
            <a:ext cx="5486548" cy="602307"/>
          </a:xfrm>
          <a:prstGeom prst="roundRect">
            <a:avLst>
              <a:gd name="adj" fmla="val 126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97085" y="2891283"/>
            <a:ext cx="335160" cy="335160"/>
          </a:xfrm>
          <a:prstGeom prst="roundRect">
            <a:avLst>
              <a:gd name="adj" fmla="val 17051"/>
            </a:avLst>
          </a:prstGeom>
          <a:solidFill>
            <a:srgbClr val="008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8451" y="2982589"/>
            <a:ext cx="152396" cy="1523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35160" y="3443882"/>
            <a:ext cx="5486548" cy="602307"/>
          </a:xfrm>
          <a:prstGeom prst="roundRect">
            <a:avLst>
              <a:gd name="adj" fmla="val 126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7085" y="3577381"/>
            <a:ext cx="335160" cy="335160"/>
          </a:xfrm>
          <a:prstGeom prst="roundRect">
            <a:avLst>
              <a:gd name="adj" fmla="val 17051"/>
            </a:avLst>
          </a:prstGeom>
          <a:solidFill>
            <a:srgbClr val="5A3B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8451" y="3678172"/>
            <a:ext cx="152396" cy="13336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35160" y="4129980"/>
            <a:ext cx="5486548" cy="602307"/>
          </a:xfrm>
          <a:prstGeom prst="roundRect">
            <a:avLst>
              <a:gd name="adj" fmla="val 1265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7085" y="4263479"/>
            <a:ext cx="335160" cy="335160"/>
          </a:xfrm>
          <a:prstGeom prst="roundRect">
            <a:avLst>
              <a:gd name="adj" fmla="val 17051"/>
            </a:avLst>
          </a:prstGeom>
          <a:solidFill>
            <a:srgbClr val="A06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451" y="4369990"/>
            <a:ext cx="152396" cy="1219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35160" y="4869358"/>
            <a:ext cx="5486548" cy="527744"/>
          </a:xfrm>
          <a:prstGeom prst="roundRect">
            <a:avLst>
              <a:gd name="adj" fmla="val 7219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5160" y="4869358"/>
            <a:ext cx="38100" cy="52774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5152" y="1518008"/>
            <a:ext cx="3960961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Veri Seti İstatistikleri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726" y="2068063"/>
            <a:ext cx="5234005" cy="472517"/>
          </a:xfrm>
          <a:prstGeom prst="rect">
            <a:avLst/>
          </a:prstGeom>
          <a:noFill/>
        </p:spPr>
        <p:txBody>
          <a:bodyPr wrap="square" lIns="114297" tIns="0" rIns="0" bIns="0">
            <a:spAutoFit/>
          </a:bodyPr>
          <a:lstStyle/>
          <a:p>
            <a:pPr algn="l"/>
            <a:r>
              <a:rPr sz="1282" b="0" i="1">
                <a:solidFill>
                  <a:srgbClr val="0D1B4B"/>
                </a:solidFill>
                <a:latin typeface="Inter 18pt"/>
              </a:rPr>
              <a:t>Veri seti başına sınıf dengesizliğini ve örnek sayılarını anlamak, model performans farklılıklarını yorumlamak için kritiktir.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1703" y="2866209"/>
            <a:ext cx="97331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3D4A6A"/>
                </a:solidFill>
                <a:latin typeface="Montserrat"/>
              </a:rPr>
              <a:t>Indian Pines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703" y="3033785"/>
            <a:ext cx="2500994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E2A40"/>
                </a:solidFill>
                <a:latin typeface="Inter 18pt"/>
              </a:rPr>
              <a:t>10.249 etiketli örnek • 16 sınıf</a:t>
            </a:r>
            <a:r>
              <a:rPr sz="947" b="0" i="0">
                <a:solidFill>
                  <a:srgbClr val="4A5568"/>
                </a:solidFill>
                <a:latin typeface="Inter 18pt"/>
              </a:rPr>
              <a:t> </a:t>
            </a:r>
            <a:r>
              <a:rPr sz="947" b="0" i="0">
                <a:solidFill>
                  <a:srgbClr val="4A5568"/>
                </a:solidFill>
                <a:latin typeface="Inter 18pt"/>
                <a:hlinkClick r:id="rId5" tooltip="Hyperspectral Remote Sensing Scenes - Grupo de Inteli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1703" y="3552289"/>
            <a:ext cx="60288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3D4A6A"/>
                </a:solidFill>
                <a:latin typeface="Montserrat"/>
              </a:rPr>
              <a:t>Salinas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1703" y="3719865"/>
            <a:ext cx="3824489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E2A40"/>
                </a:solidFill>
                <a:latin typeface="Inter 18pt"/>
              </a:rPr>
              <a:t>54.129 etiketli örnek • 16 sınıf • görece dengeli</a:t>
            </a:r>
            <a:r>
              <a:rPr sz="947" b="0" i="0">
                <a:solidFill>
                  <a:srgbClr val="4A5568"/>
                </a:solidFill>
                <a:latin typeface="Inter 18pt"/>
              </a:rPr>
              <a:t> </a:t>
            </a:r>
            <a:r>
              <a:rPr sz="947" b="0" i="0">
                <a:solidFill>
                  <a:srgbClr val="4A5568"/>
                </a:solidFill>
                <a:latin typeface="Inter 18pt"/>
                <a:hlinkClick r:id="rId5" tooltip="Hyperspectral Remote Sensing Scenes - Grupo de Inteli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703" y="4238370"/>
            <a:ext cx="130563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3D4A6A"/>
                </a:solidFill>
                <a:latin typeface="Montserrat"/>
              </a:rPr>
              <a:t>Pavia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703" y="4405946"/>
            <a:ext cx="2480009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E2A40"/>
                </a:solidFill>
                <a:latin typeface="Inter 18pt"/>
              </a:rPr>
              <a:t>42.776 etiketli örnek • 9 sınıf</a:t>
            </a:r>
            <a:r>
              <a:rPr sz="947" b="0" i="0">
                <a:solidFill>
                  <a:srgbClr val="4A5568"/>
                </a:solidFill>
                <a:latin typeface="Inter 18pt"/>
              </a:rPr>
              <a:t> </a:t>
            </a:r>
            <a:r>
              <a:rPr sz="947" b="0" i="0">
                <a:solidFill>
                  <a:srgbClr val="4A5568"/>
                </a:solidFill>
                <a:latin typeface="Inter 18pt"/>
                <a:hlinkClick r:id="rId6" tooltip="Hyperspectral Remote Sensing Datasets: Indian Pines, 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667" y="4878761"/>
            <a:ext cx="5424322" cy="501984"/>
          </a:xfrm>
          <a:prstGeom prst="rect">
            <a:avLst/>
          </a:prstGeom>
          <a:noFill/>
        </p:spPr>
        <p:txBody>
          <a:bodyPr wrap="square" lIns="129536" tIns="76198" rIns="129536" bIns="76198">
            <a:spAutoFit/>
          </a:bodyPr>
          <a:lstStyle/>
          <a:p>
            <a:pPr algn="l"/>
            <a:r>
              <a:rPr sz="960" b="1" i="0">
                <a:solidFill>
                  <a:srgbClr val="1B2A6B"/>
                </a:solidFill>
                <a:latin typeface="Inter 18pt"/>
              </a:rPr>
              <a:t>Sınıf Dengesizliği (Indian Pines):</a:t>
            </a:r>
            <a:r>
              <a:rPr sz="981" b="0" i="0">
                <a:solidFill>
                  <a:srgbClr val="1E2A40"/>
                </a:solidFill>
                <a:latin typeface="Inter 18pt"/>
              </a:rPr>
              <a:t> Yulaf: 20 örnek - Soybean-mintill: 2.455 örnek — yarı-gözetimli ve müfredat öğrenme stratejilerinin kullanımını motive eder.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908" y="274283"/>
            <a:ext cx="3199724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7" b="1" i="0">
                <a:solidFill>
                  <a:srgbClr val="1B2A6B"/>
                </a:solidFill>
                <a:latin typeface="Montserrat"/>
              </a:rPr>
              <a:t>Veri Setine Göre Etiketli Örnek Sayıları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9621" y="6155079"/>
            <a:ext cx="57550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3D4A6A"/>
                </a:solidFill>
                <a:latin typeface="Inter 18pt"/>
              </a:rPr>
              <a:t>Kaynaklar: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9621" y="6343640"/>
            <a:ext cx="317100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3D4A6A"/>
                </a:solidFill>
                <a:latin typeface="Inter 18pt"/>
                <a:hlinkClick r:id="rId5" tooltip="Hyperspectral Remote Sensing Scenes - Grupo de Inteli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Remote Sensing Scenes - Grupo de Inteli...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9621" y="6532200"/>
            <a:ext cx="311682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3D4A6A"/>
                </a:solidFill>
                <a:latin typeface="Inter 18pt"/>
                <a:hlinkClick r:id="rId6" tooltip="Hyperspectral Remote Sensing Datasets: Indian Pines, 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Remote Sensing Datasets: Indian Pines, ...</a:t>
            </a:r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6339621" y="571336"/>
          <a:ext cx="5600559" cy="28574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323975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535310"/>
            <a:ext cx="3479750" cy="455741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920775" y="1727596"/>
            <a:ext cx="400050" cy="40005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36959" y="1868922"/>
            <a:ext cx="167576" cy="1173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30300" y="2864197"/>
            <a:ext cx="381000" cy="1905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091" y="3017117"/>
            <a:ext cx="83788" cy="8378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091" y="3415817"/>
            <a:ext cx="83788" cy="83788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091" y="3814518"/>
            <a:ext cx="83788" cy="83788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8287" y="3728166"/>
            <a:ext cx="200008" cy="17151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56050" y="1535310"/>
            <a:ext cx="3479750" cy="455741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895826" y="1727596"/>
            <a:ext cx="400050" cy="40005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1910" y="1843785"/>
            <a:ext cx="167608" cy="1675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05351" y="2864197"/>
            <a:ext cx="381000" cy="1905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3042" y="3017117"/>
            <a:ext cx="83788" cy="83788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3042" y="3415817"/>
            <a:ext cx="83788" cy="83788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3042" y="3814518"/>
            <a:ext cx="83788" cy="83788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3238" y="3728166"/>
            <a:ext cx="200008" cy="17151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331100" y="1535310"/>
            <a:ext cx="3479750" cy="4557414"/>
          </a:xfrm>
          <a:prstGeom prst="roundRect">
            <a:avLst>
              <a:gd name="adj" fmla="val 273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870876" y="1727596"/>
            <a:ext cx="400050" cy="40005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86861" y="1854259"/>
            <a:ext cx="167576" cy="146629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880401" y="2864197"/>
            <a:ext cx="381000" cy="1905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993" y="3017117"/>
            <a:ext cx="83788" cy="83788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993" y="3590835"/>
            <a:ext cx="83788" cy="83788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7993" y="3989535"/>
            <a:ext cx="83788" cy="83788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381000" y="6191696"/>
            <a:ext cx="11430000" cy="279796"/>
          </a:xfrm>
          <a:prstGeom prst="roundRect">
            <a:avLst>
              <a:gd name="adj" fmla="val 27234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99430" y="6293494"/>
            <a:ext cx="76200" cy="76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60506" y="6274771"/>
            <a:ext cx="64751" cy="11333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2910482" y="6293494"/>
            <a:ext cx="76200" cy="76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71520" y="6274771"/>
            <a:ext cx="64751" cy="113330"/>
          </a:xfrm>
          <a:prstGeom prst="rect">
            <a:avLst/>
          </a:prstGeom>
        </p:spPr>
      </p:pic>
      <p:sp>
        <p:nvSpPr>
          <p:cNvPr id="31" name="Oval 30"/>
          <p:cNvSpPr/>
          <p:nvPr/>
        </p:nvSpPr>
        <p:spPr>
          <a:xfrm>
            <a:off x="4421534" y="6293494"/>
            <a:ext cx="76200" cy="76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82534" y="6274771"/>
            <a:ext cx="64751" cy="113330"/>
          </a:xfrm>
          <a:prstGeom prst="rect">
            <a:avLst/>
          </a:prstGeom>
        </p:spPr>
      </p:pic>
      <p:sp>
        <p:nvSpPr>
          <p:cNvPr id="33" name="Oval 32"/>
          <p:cNvSpPr/>
          <p:nvPr/>
        </p:nvSpPr>
        <p:spPr>
          <a:xfrm>
            <a:off x="5932586" y="6293494"/>
            <a:ext cx="76200" cy="76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93548" y="6274771"/>
            <a:ext cx="64751" cy="11333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7443638" y="6293494"/>
            <a:ext cx="76200" cy="76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0990" y="285742"/>
            <a:ext cx="3836990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Veri Ön İşleme Hattı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90" y="788174"/>
            <a:ext cx="9822856" cy="43456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26" b="0" i="1">
                <a:solidFill>
                  <a:srgbClr val="0D1B4B"/>
                </a:solidFill>
                <a:latin typeface="Inter 18pt"/>
              </a:rPr>
              <a:t>Üç aşamalı bir ön işleme hattı — gürültü azaltma, boyut indirgeme ve yama çıkarma — ham hiperspektral küpleri modele hazır girdilere dönüştürür.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39618" y="2234151"/>
            <a:ext cx="56240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008297"/>
                </a:solidFill>
                <a:latin typeface="Montserrat"/>
              </a:rPr>
              <a:t>Aşama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0231" y="2405597"/>
            <a:ext cx="140103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7" b="1" i="0">
                <a:solidFill>
                  <a:srgbClr val="1B2A6B"/>
                </a:solidFill>
                <a:latin typeface="Montserrat"/>
              </a:rPr>
              <a:t>Gauss Filtreleme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9627" y="2620351"/>
            <a:ext cx="982389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94" b="1" i="0">
                <a:solidFill>
                  <a:srgbClr val="7B4FFF"/>
                </a:solidFill>
                <a:latin typeface="Inter 18pt"/>
              </a:rPr>
              <a:t>Gürültü Azaltma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338" y="2984078"/>
            <a:ext cx="2615737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Spektral imzaları düzeltmek için bant bazında uygulanır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0338" y="3382778"/>
            <a:ext cx="2645056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Spektral yapıyı bozmadan sensör gürültüsünü azaltır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338" y="3781479"/>
            <a:ext cx="2743131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Çekirdek parametreleri veri setine göre ayrı ayrı ayarlanır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3705" y="2234151"/>
            <a:ext cx="58398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008297"/>
                </a:solidFill>
                <a:latin typeface="Montserrat"/>
              </a:rPr>
              <a:t>Aşama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51090" y="2405597"/>
            <a:ext cx="2289216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7" b="1" i="0">
                <a:solidFill>
                  <a:srgbClr val="1B2A6B"/>
                </a:solidFill>
                <a:latin typeface="Montserrat"/>
              </a:rPr>
              <a:t>Temel Bileşen Analizi (PCA)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1601" y="2620351"/>
            <a:ext cx="98819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94" b="1" i="0">
                <a:solidFill>
                  <a:srgbClr val="7B4FFF"/>
                </a:solidFill>
                <a:latin typeface="Inter 18pt"/>
              </a:rPr>
              <a:t>Boyut İndirgeme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5289" y="2984078"/>
            <a:ext cx="2899099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Yüksek boyutlu spektral veriyi daha düşük boyutlu bir alt uzaya yansıtır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5289" y="3382778"/>
            <a:ext cx="2538795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Varyansın büyük bölümünü yakalayan temel bileşenler korunur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5289" y="3781479"/>
            <a:ext cx="2874543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Boyutsallık lanetini hafifletir ve hesaplama yükünü azaltır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78507" y="2234151"/>
            <a:ext cx="58428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008297"/>
                </a:solidFill>
                <a:latin typeface="Montserrat"/>
              </a:rPr>
              <a:t>Aşama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66720" y="2405597"/>
            <a:ext cx="1208007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7" b="1" i="0">
                <a:solidFill>
                  <a:srgbClr val="1B2A6B"/>
                </a:solidFill>
                <a:latin typeface="Montserrat"/>
              </a:rPr>
              <a:t>Yama Çıkarma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56292" y="2620351"/>
            <a:ext cx="142871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94" b="1" i="0">
                <a:solidFill>
                  <a:srgbClr val="7B4FFF"/>
                </a:solidFill>
                <a:latin typeface="Inter 18pt"/>
              </a:rPr>
              <a:t>Model Girdisi Hazırlama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0240" y="2984078"/>
            <a:ext cx="2504714" cy="5024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6" b="0" i="0">
                <a:solidFill>
                  <a:srgbClr val="1E2A40"/>
                </a:solidFill>
                <a:latin typeface="Microsoft YaHei"/>
              </a:rPr>
              <a:t>Her etiketli pikselin merkezine sabit boyutlu uzamsal yamalar (11×11 veya 13×13 piksel) yerleştirilir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0240" y="3557796"/>
            <a:ext cx="2772300" cy="327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CNN ve ViT modelleri için yerel uzamsal bağlam sağlar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0240" y="3956496"/>
            <a:ext cx="295654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Tüm mimarilerde mini-batch eğitimini mümkün kılar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3746" y="6260000"/>
            <a:ext cx="68325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50" b="1" i="0">
                <a:solidFill>
                  <a:srgbClr val="A8C8FF"/>
                </a:solidFill>
                <a:latin typeface="Inter 18pt"/>
              </a:rPr>
              <a:t>Hat Akışı: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28873" y="6260000"/>
            <a:ext cx="79933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FFFFFF"/>
                </a:solidFill>
                <a:latin typeface="Inter 18pt"/>
              </a:rPr>
              <a:t>Ham HSI Küpü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39887" y="6260000"/>
            <a:ext cx="65229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FFFFFF"/>
                </a:solidFill>
                <a:latin typeface="Inter 18pt"/>
              </a:rPr>
              <a:t>Gauss Filtre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50901" y="6260000"/>
            <a:ext cx="24050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FFFFFF"/>
                </a:solidFill>
                <a:latin typeface="Inter 18pt"/>
              </a:rPr>
              <a:t>PCA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61915" y="6260000"/>
            <a:ext cx="79457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FFFFFF"/>
                </a:solidFill>
                <a:latin typeface="Inter 18pt"/>
              </a:rPr>
              <a:t>Yama Çıkarma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72929" y="6260000"/>
            <a:ext cx="72194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FFFFFF"/>
                </a:solidFill>
                <a:latin typeface="Inter 18pt"/>
              </a:rPr>
              <a:t>Model Girdisi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55498" y="6260000"/>
            <a:ext cx="277244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36" b="0" i="1">
                <a:solidFill>
                  <a:srgbClr val="8D97AE"/>
                </a:solidFill>
                <a:latin typeface="Inter 18pt"/>
              </a:rPr>
              <a:t>Tüm 3 veri seti ve 27 modelde aynı şekilde uygulanır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0990" y="6532200"/>
            <a:ext cx="335375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A7184"/>
                </a:solidFill>
                <a:latin typeface="Inter 18pt"/>
              </a:rPr>
              <a:t>Derin Öğrenme Tabanlı Hiperspektral Görüntü Sınıflandırması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495345" y="6532200"/>
            <a:ext cx="315358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A7184"/>
                </a:solidFill>
                <a:latin typeface="Inter 18pt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304800"/>
            <a:ext cx="1511051" cy="188118"/>
          </a:xfrm>
          <a:prstGeom prst="roundRect">
            <a:avLst>
              <a:gd name="adj" fmla="val 20253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1601" y="350933"/>
            <a:ext cx="95682" cy="9568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81000" y="1735782"/>
            <a:ext cx="4114800" cy="774501"/>
          </a:xfrm>
          <a:prstGeom prst="roundRect">
            <a:avLst>
              <a:gd name="adj" fmla="val 98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42925" y="1874787"/>
            <a:ext cx="323850" cy="32385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186" y="1971923"/>
            <a:ext cx="113292" cy="12947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81000" y="2601664"/>
            <a:ext cx="4114800" cy="804118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42925" y="2740669"/>
            <a:ext cx="323850" cy="323850"/>
          </a:xfrm>
          <a:prstGeom prst="ellipse">
            <a:avLst/>
          </a:prstGeom>
          <a:solidFill>
            <a:srgbClr val="00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0093" y="2844999"/>
            <a:ext cx="129499" cy="1150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81075" y="3093541"/>
            <a:ext cx="706635" cy="188416"/>
          </a:xfrm>
          <a:prstGeom prst="roundRect">
            <a:avLst>
              <a:gd name="adj" fmla="val 50000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4865" y="3159174"/>
            <a:ext cx="57150" cy="5715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779091" y="3093541"/>
            <a:ext cx="708719" cy="188416"/>
          </a:xfrm>
          <a:prstGeom prst="roundRect">
            <a:avLst>
              <a:gd name="adj" fmla="val 50000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62881" y="3159174"/>
            <a:ext cx="57150" cy="5715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579191" y="3093541"/>
            <a:ext cx="460623" cy="188416"/>
          </a:xfrm>
          <a:prstGeom prst="roundRect">
            <a:avLst>
              <a:gd name="adj" fmla="val 50000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2662981" y="3159174"/>
            <a:ext cx="57150" cy="5715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1000" y="3497163"/>
            <a:ext cx="4114800" cy="774501"/>
          </a:xfrm>
          <a:prstGeom prst="roundRect">
            <a:avLst>
              <a:gd name="adj" fmla="val 98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2925" y="3636168"/>
            <a:ext cx="323850" cy="323850"/>
          </a:xfrm>
          <a:prstGeom prst="ellipse">
            <a:avLst/>
          </a:prstGeom>
          <a:solidFill>
            <a:srgbClr val="5A3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286" y="3740458"/>
            <a:ext cx="115090" cy="115079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381000" y="4363045"/>
            <a:ext cx="4114800" cy="774501"/>
          </a:xfrm>
          <a:prstGeom prst="roundRect">
            <a:avLst>
              <a:gd name="adj" fmla="val 983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42925" y="4502050"/>
            <a:ext cx="323850" cy="323850"/>
          </a:xfrm>
          <a:prstGeom prst="ellipse">
            <a:avLst/>
          </a:prstGeom>
          <a:solidFill>
            <a:srgbClr val="1A7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093" y="4607212"/>
            <a:ext cx="129477" cy="113292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899570" y="2223343"/>
            <a:ext cx="19050" cy="3558778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899570" y="2223343"/>
            <a:ext cx="19050" cy="2409527"/>
          </a:xfrm>
          <a:prstGeom prst="rect">
            <a:avLst/>
          </a:prstGeom>
          <a:solidFill>
            <a:srgbClr val="00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709070" y="2150119"/>
            <a:ext cx="400050" cy="40005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32774" y="2290820"/>
            <a:ext cx="152396" cy="11853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261520" y="1994743"/>
            <a:ext cx="6549479" cy="710803"/>
          </a:xfrm>
          <a:prstGeom prst="roundRect">
            <a:avLst>
              <a:gd name="adj" fmla="val 107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890045" y="2705546"/>
            <a:ext cx="19050" cy="17145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070" y="2976413"/>
            <a:ext cx="400050" cy="400050"/>
          </a:xfrm>
          <a:prstGeom prst="ellipse">
            <a:avLst/>
          </a:prstGeom>
          <a:solidFill>
            <a:srgbClr val="006E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2774" y="3115400"/>
            <a:ext cx="152396" cy="121916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261520" y="2905422"/>
            <a:ext cx="6549479" cy="542032"/>
          </a:xfrm>
          <a:prstGeom prst="roundRect">
            <a:avLst>
              <a:gd name="adj" fmla="val 14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90045" y="3475880"/>
            <a:ext cx="19050" cy="17145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709070" y="3802707"/>
            <a:ext cx="400050" cy="400050"/>
          </a:xfrm>
          <a:prstGeom prst="ellipse">
            <a:avLst/>
          </a:prstGeom>
          <a:solidFill>
            <a:srgbClr val="8C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51824" y="3926434"/>
            <a:ext cx="114297" cy="152396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261520" y="3647330"/>
            <a:ext cx="6549479" cy="710803"/>
          </a:xfrm>
          <a:prstGeom prst="roundRect">
            <a:avLst>
              <a:gd name="adj" fmla="val 107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890045" y="4358133"/>
            <a:ext cx="19050" cy="17145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709070" y="4629001"/>
            <a:ext cx="400050" cy="400050"/>
          </a:xfrm>
          <a:prstGeom prst="ellipse">
            <a:avLst/>
          </a:prstGeom>
          <a:solidFill>
            <a:srgbClr val="5A3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37537" y="4762220"/>
            <a:ext cx="138116" cy="133365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5261520" y="4558010"/>
            <a:ext cx="6549479" cy="542032"/>
          </a:xfrm>
          <a:prstGeom prst="roundRect">
            <a:avLst>
              <a:gd name="adj" fmla="val 140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890045" y="5128468"/>
            <a:ext cx="19050" cy="17145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4709070" y="5455294"/>
            <a:ext cx="400050" cy="400050"/>
          </a:xfrm>
          <a:prstGeom prst="ellipse">
            <a:avLst/>
          </a:prstGeom>
          <a:solidFill>
            <a:srgbClr val="1A7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32774" y="5596908"/>
            <a:ext cx="152396" cy="116539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5261520" y="5299918"/>
            <a:ext cx="6549479" cy="710803"/>
          </a:xfrm>
          <a:prstGeom prst="roundRect">
            <a:avLst>
              <a:gd name="adj" fmla="val 107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4709070" y="6086921"/>
            <a:ext cx="7101929" cy="298846"/>
          </a:xfrm>
          <a:prstGeom prst="roundRect">
            <a:avLst>
              <a:gd name="adj" fmla="val 19123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47954" y="6174969"/>
            <a:ext cx="123577" cy="123577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10395198" y="6546651"/>
            <a:ext cx="9525" cy="114300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9796" y="332176"/>
            <a:ext cx="1153240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ontserrat"/>
              </a:rPr>
              <a:t>Paradigma I / III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0990" y="549906"/>
            <a:ext cx="3740106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Gözetimli Öğrenme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0990" y="1092222"/>
            <a:ext cx="7040287" cy="43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0" i="0">
                <a:solidFill>
                  <a:srgbClr val="0D1B4B"/>
                </a:solidFill>
                <a:latin typeface="Inter 18pt"/>
              </a:rPr>
              <a:t>Gözetimli temel model, her modeli yalnızca etiketli %10'luk eğitim bölümüyle eğiterek tam etiket mevcudiyetiyle ulaşılabilecek performans tavanını belirler.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97716" y="304792"/>
            <a:ext cx="41298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2" b="1" i="0">
                <a:solidFill>
                  <a:srgbClr val="585F72"/>
                </a:solidFill>
                <a:latin typeface="Montserrat"/>
              </a:rPr>
              <a:t>08 / 22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1050" y="1859560"/>
            <a:ext cx="89562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270"/>
                </a:solidFill>
                <a:latin typeface="Montserrat"/>
              </a:rPr>
              <a:t>Eğitim Verisi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1050" y="2008087"/>
            <a:ext cx="3220262" cy="3606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E2A40"/>
                </a:solidFill>
                <a:latin typeface="Inter 18pt"/>
              </a:rPr>
              <a:t>Mevcut tüm etiketli örnekler doğrudan kullanılır — etiketsiz veri dahil edilmez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1050" y="2725421"/>
            <a:ext cx="134254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270"/>
                </a:solidFill>
                <a:latin typeface="Montserrat"/>
              </a:rPr>
              <a:t>Eğitilen Mimariler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1050" y="2873948"/>
            <a:ext cx="2809358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E2A40"/>
                </a:solidFill>
                <a:latin typeface="Inter 18pt"/>
              </a:rPr>
              <a:t>2D CNN, 3D CNN, Vision Transformer (ViT)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7676" y="3116234"/>
            <a:ext cx="43620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1B2A6B"/>
                </a:solidFill>
                <a:latin typeface="Inter 18pt"/>
              </a:rPr>
              <a:t>2D CNN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65672" y="3116234"/>
            <a:ext cx="43828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1B2A6B"/>
                </a:solidFill>
                <a:latin typeface="Inter 18pt"/>
              </a:rPr>
              <a:t>3D CNN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65752" y="3116234"/>
            <a:ext cx="19019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1B2A6B"/>
                </a:solidFill>
                <a:latin typeface="Inter 18pt"/>
              </a:rPr>
              <a:t>ViT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1050" y="3620897"/>
            <a:ext cx="42474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270"/>
                </a:solidFill>
                <a:latin typeface="Montserrat"/>
              </a:rPr>
              <a:t>Ölçek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81050" y="3769424"/>
            <a:ext cx="3058043" cy="3606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5" b="1" i="0">
                <a:solidFill>
                  <a:srgbClr val="1E2A40"/>
                </a:solidFill>
                <a:latin typeface="Microsoft YaHei"/>
              </a:rPr>
              <a:t>3 veri setine uygulandı → toplamda</a:t>
            </a:r>
            <a:r>
              <a:rPr sz="1003" b="1" i="0">
                <a:solidFill>
                  <a:srgbClr val="1E2A40"/>
                </a:solidFill>
                <a:latin typeface="Inter 18pt"/>
              </a:rPr>
              <a:t> 9 gözetimli model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1050" y="4486758"/>
            <a:ext cx="127482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270"/>
                </a:solidFill>
                <a:latin typeface="Montserrat"/>
              </a:rPr>
              <a:t>Çalışmadaki Rolü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1050" y="4635284"/>
            <a:ext cx="3221601" cy="36060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E2A40"/>
                </a:solidFill>
                <a:latin typeface="Inter 18pt"/>
              </a:rPr>
              <a:t>Referans kıyaslama — yarı-gözetimli ve federated paradigmalarla karşılaştırılır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8952" y="1735738"/>
            <a:ext cx="131590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4A5270"/>
                </a:solidFill>
                <a:latin typeface="Montserrat"/>
              </a:rPr>
              <a:t>Eğitim Döngüsü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23310" y="2088006"/>
            <a:ext cx="112764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1B2A6B"/>
                </a:solidFill>
                <a:latin typeface="Montserrat"/>
              </a:rPr>
              <a:t>Etiketli Yamalar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23310" y="2274632"/>
            <a:ext cx="6086471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PCA ile boyutu azaltılmış, etiketli pikseller üzerinde ortalanmış uzamsal yamalar; her örneğe gerçek zemin sınıfı atanır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23310" y="2998662"/>
            <a:ext cx="122140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1B2A6B"/>
                </a:solidFill>
                <a:latin typeface="Montserrat"/>
              </a:rPr>
              <a:t>Model İleri Geçişi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423310" y="3185288"/>
            <a:ext cx="420964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Mimari (2D CNN / 3D CNN / ViT) her yama için sınıf olasılık dağılımı üretir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23310" y="3740552"/>
            <a:ext cx="1511311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1B2A6B"/>
                </a:solidFill>
                <a:latin typeface="Montserrat"/>
              </a:rPr>
              <a:t>Çapraz-Entropi Kaybı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23310" y="3927178"/>
            <a:ext cx="5582849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Tahmin edilen olasılıklar ile gerçek zemin etiketleri arasında standart çapraz-entropi; her gradyan güncellemesinde hesaplanır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23310" y="4651209"/>
            <a:ext cx="84740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1B2A6B"/>
                </a:solidFill>
                <a:latin typeface="Montserrat"/>
              </a:rPr>
              <a:t>Geri Yayılım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23310" y="4837834"/>
            <a:ext cx="580623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Gradyanlar ağ boyunca yayılır; ağırlıklar yakınsama sağlanana kadar optimizer aracılığıyla güncellenir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23310" y="5393098"/>
            <a:ext cx="1551345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49" b="1" i="0">
                <a:solidFill>
                  <a:srgbClr val="1B2A6B"/>
                </a:solidFill>
                <a:latin typeface="Montserrat"/>
              </a:rPr>
              <a:t>Sınıflandırma Haritası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423310" y="5579724"/>
            <a:ext cx="5702206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Test seti (%90) üzerinde son çıkarım; piksel bazında sınıf tahminleri tam bir sınıflandırma haritasına dönüştürülür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49016" y="6164753"/>
            <a:ext cx="657178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66" b="0" i="1">
                <a:solidFill>
                  <a:srgbClr val="1E2A40"/>
                </a:solidFill>
                <a:latin typeface="Microsoft YaHei"/>
              </a:rPr>
              <a:t>[EKLE: Diyagram — gözetimli eğitim döngüsü: etiketli yamalar → model → kayıp → geri yayılım → sınıflandırma haritası]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80990" y="6532200"/>
            <a:ext cx="335375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4A5270"/>
                </a:solidFill>
                <a:latin typeface="Inter 18pt"/>
              </a:rPr>
              <a:t>Derin Öğrenme Tabanlı Hiperspektral Görüntü Sınıflandırması</a:t>
            </a:r>
          </a:p>
        </p:txBody>
      </p:sp>
      <p:sp>
        <p:nvSpPr>
          <p:cNvPr id="75" name="TextBox 89">
            <a:extLst>
              <a:ext uri="{FF2B5EF4-FFF2-40B4-BE49-F238E27FC236}">
                <a16:creationId xmlns:a16="http://schemas.microsoft.com/office/drawing/2014/main" id="{7E3AAC88-1619-F5D1-4C66-3EA44457A8D1}"/>
              </a:ext>
            </a:extLst>
          </p:cNvPr>
          <p:cNvSpPr txBox="1"/>
          <p:nvPr/>
        </p:nvSpPr>
        <p:spPr>
          <a:xfrm>
            <a:off x="9535848" y="6589515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670" y="1489323"/>
            <a:ext cx="11460658" cy="14287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670" y="1701551"/>
            <a:ext cx="5159722" cy="903535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670" y="1701551"/>
            <a:ext cx="50800" cy="903535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56170" y="1815851"/>
            <a:ext cx="266700" cy="266700"/>
          </a:xfrm>
          <a:prstGeom prst="ellipse">
            <a:avLst/>
          </a:prstGeom>
          <a:solidFill>
            <a:srgbClr val="008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354" y="1899148"/>
            <a:ext cx="114319" cy="10001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670" y="2688877"/>
            <a:ext cx="5159722" cy="903535"/>
          </a:xfrm>
          <a:prstGeom prst="roundRect">
            <a:avLst>
              <a:gd name="adj" fmla="val 843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670" y="2688877"/>
            <a:ext cx="50800" cy="903535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56170" y="2803177"/>
            <a:ext cx="266700" cy="26670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3941" y="2892005"/>
            <a:ext cx="112710" cy="8889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670" y="3676203"/>
            <a:ext cx="5159722" cy="1149250"/>
          </a:xfrm>
          <a:prstGeom prst="roundRect">
            <a:avLst>
              <a:gd name="adj" fmla="val 66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670" y="3676203"/>
            <a:ext cx="50800" cy="114925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56170" y="3790503"/>
            <a:ext cx="266700" cy="266700"/>
          </a:xfrm>
          <a:prstGeom prst="ellipse">
            <a:avLst/>
          </a:prstGeom>
          <a:solidFill>
            <a:srgbClr val="A06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8704" y="3872956"/>
            <a:ext cx="107536" cy="101597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6089302" y="3445966"/>
            <a:ext cx="495299" cy="495299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3479" y="3609735"/>
            <a:ext cx="146629" cy="167576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26239" y="3685402"/>
            <a:ext cx="68547" cy="119973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7319664" y="3445966"/>
            <a:ext cx="495299" cy="495299"/>
          </a:xfrm>
          <a:prstGeom prst="ellipse">
            <a:avLst/>
          </a:prstGeom>
          <a:solidFill>
            <a:srgbClr val="007C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83337" y="3609735"/>
            <a:ext cx="167576" cy="167576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56570" y="3685402"/>
            <a:ext cx="68547" cy="119973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550026" y="3445966"/>
            <a:ext cx="495299" cy="495299"/>
          </a:xfrm>
          <a:prstGeom prst="ellipse">
            <a:avLst/>
          </a:prstGeom>
          <a:solidFill>
            <a:srgbClr val="794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13668" y="3619045"/>
            <a:ext cx="158266" cy="14893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86902" y="3685402"/>
            <a:ext cx="68547" cy="119973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9780389" y="3445966"/>
            <a:ext cx="495299" cy="495299"/>
          </a:xfrm>
          <a:prstGeom prst="ellipse">
            <a:avLst/>
          </a:prstGeom>
          <a:solidFill>
            <a:srgbClr val="996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44001" y="3620209"/>
            <a:ext cx="167557" cy="146624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7233" y="3685402"/>
            <a:ext cx="68546" cy="119973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11010751" y="3445966"/>
            <a:ext cx="495299" cy="495299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179568" y="3620196"/>
            <a:ext cx="157102" cy="146654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21018" y="4227803"/>
            <a:ext cx="4952876" cy="342891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586412" y="4669780"/>
            <a:ext cx="6422677" cy="285750"/>
          </a:xfrm>
          <a:prstGeom prst="roundRect">
            <a:avLst>
              <a:gd name="adj" fmla="val 26666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059066" y="4765030"/>
            <a:ext cx="2957958" cy="95250"/>
          </a:xfrm>
          <a:prstGeom prst="roundRect">
            <a:avLst>
              <a:gd name="adj" fmla="val 50000"/>
            </a:avLst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059066" y="4765030"/>
            <a:ext cx="887313" cy="9525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46380" y="4765030"/>
            <a:ext cx="1035248" cy="952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981628" y="4765030"/>
            <a:ext cx="1035248" cy="9525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169425" y="4774555"/>
            <a:ext cx="76200" cy="76200"/>
          </a:xfrm>
          <a:prstGeom prst="ellipse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525720" y="4774555"/>
            <a:ext cx="76200" cy="76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398001" y="4774555"/>
            <a:ext cx="76200" cy="76200"/>
          </a:xfrm>
          <a:prstGeom prst="ellipse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572" y="304744"/>
            <a:ext cx="1396151" cy="188209"/>
          </a:xfrm>
          <a:prstGeom prst="rect">
            <a:avLst/>
          </a:prstGeom>
          <a:solidFill>
            <a:srgbClr val="7B4FFF"/>
          </a:solidFill>
        </p:spPr>
        <p:txBody>
          <a:bodyPr wrap="none" lIns="99057" tIns="27431" rIns="99057" bIns="27431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ontserrat"/>
              </a:rPr>
              <a:t>Paradigma II / III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661" y="534726"/>
            <a:ext cx="7727558" cy="3714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111" b="1" i="0">
                <a:solidFill>
                  <a:srgbClr val="1B2A6B"/>
                </a:solidFill>
                <a:latin typeface="Montserrat"/>
              </a:rPr>
              <a:t>Eğitim Paradigması II — Yarı-Gözetimli Öğrenme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661" y="967060"/>
            <a:ext cx="11264965" cy="414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0D1B4B"/>
                </a:solidFill>
                <a:latin typeface="Inter 18pt"/>
              </a:rPr>
              <a:t>Müfredat öğrenmeli öz-eğitim, etiketlerin az olduğu durumlarda model genellemesini kademeli olarak iyileştirmek için büyük etiketsiz piksel havuzundan yararlanır.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6638" y="1863430"/>
            <a:ext cx="69917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8" b="1" i="0">
                <a:solidFill>
                  <a:srgbClr val="1B2A6B"/>
                </a:solidFill>
                <a:latin typeface="Montserrat"/>
              </a:rPr>
              <a:t>Öz-Eğitim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6156" y="2137713"/>
            <a:ext cx="4693028" cy="33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Model etiketli veriler üzerinde eğitilir; etiketsiz veriler üzerindeki yüksek güvenlikli tahminler sözde etiket olarak kullanılır; etkin eğitim setinin yinelemeli genişlemesi.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638" y="2850731"/>
            <a:ext cx="135177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8" b="1" i="0">
                <a:solidFill>
                  <a:srgbClr val="1B2A6B"/>
                </a:solidFill>
                <a:latin typeface="Montserrat"/>
              </a:rPr>
              <a:t>Müfredat Öğrenme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6156" y="3125014"/>
            <a:ext cx="4755534" cy="33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Örnekler kolaydan (yüksek güvenlikli sözde etiketler) zora (düşük güvenlikli) doğru sıralanır; gürültülü sözde etiketlere erken aşırı uyumu önler.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638" y="3838032"/>
            <a:ext cx="1742436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8" b="1" i="0">
                <a:solidFill>
                  <a:srgbClr val="1B2A6B"/>
                </a:solidFill>
                <a:latin typeface="Montserrat"/>
              </a:rPr>
              <a:t>Motivasyon: Etiket Kıtlığı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6156" y="4112315"/>
            <a:ext cx="4594358" cy="333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Piksellerin yalnızca %10'u etiketlidir — %90'lık test seti, öz-eğitim için büyük bir etiketsiz havuz sunar.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6127" y="4541245"/>
            <a:ext cx="781834" cy="169921"/>
          </a:xfrm>
          <a:prstGeom prst="rect">
            <a:avLst/>
          </a:prstGeom>
          <a:solidFill>
            <a:srgbClr val="E8EDF8"/>
          </a:solidFill>
        </p:spPr>
        <p:txBody>
          <a:bodyPr wrap="none" lIns="83817" tIns="18287" rIns="83817" bIns="18287">
            <a:spAutoFit/>
          </a:bodyPr>
          <a:lstStyle/>
          <a:p>
            <a:pPr algn="l"/>
            <a:r>
              <a:rPr sz="785" b="1" i="0">
                <a:solidFill>
                  <a:srgbClr val="1B2A6B"/>
                </a:solidFill>
                <a:latin typeface="Inter 18pt"/>
              </a:rPr>
              <a:t>%10 Etiketli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98800" y="4559533"/>
            <a:ext cx="104028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7" b="0" i="0">
                <a:solidFill>
                  <a:srgbClr val="64718F"/>
                </a:solidFill>
                <a:latin typeface="Microsoft YaHei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63668" y="4541245"/>
            <a:ext cx="1259262" cy="169921"/>
          </a:xfrm>
          <a:prstGeom prst="rect">
            <a:avLst/>
          </a:prstGeom>
          <a:solidFill>
            <a:srgbClr val="E8EDF8"/>
          </a:solidFill>
        </p:spPr>
        <p:txBody>
          <a:bodyPr wrap="none" lIns="83817" tIns="18287" rIns="83817" bIns="18287">
            <a:spAutoFit/>
          </a:bodyPr>
          <a:lstStyle/>
          <a:p>
            <a:pPr algn="l"/>
            <a:r>
              <a:rPr sz="785" b="1" i="0">
                <a:solidFill>
                  <a:srgbClr val="1B2A6B"/>
                </a:solidFill>
                <a:latin typeface="Inter 18pt"/>
              </a:rPr>
              <a:t>%90 Etiketsiz Havuz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631" y="4939350"/>
            <a:ext cx="593273" cy="169921"/>
          </a:xfrm>
          <a:prstGeom prst="rect">
            <a:avLst/>
          </a:prstGeom>
          <a:solidFill>
            <a:srgbClr val="E8EDF8"/>
          </a:solidFill>
        </p:spPr>
        <p:txBody>
          <a:bodyPr wrap="none" lIns="83817" tIns="18287" rIns="83817" bIns="18287">
            <a:spAutoFit/>
          </a:bodyPr>
          <a:lstStyle/>
          <a:p>
            <a:pPr algn="l"/>
            <a:r>
              <a:rPr sz="785" b="1" i="0">
                <a:solidFill>
                  <a:srgbClr val="1B2A6B"/>
                </a:solidFill>
                <a:latin typeface="Inter 18pt"/>
              </a:rPr>
              <a:t>9 Model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744" y="4957638"/>
            <a:ext cx="106826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7" b="0" i="0">
                <a:solidFill>
                  <a:srgbClr val="64718F"/>
                </a:solidFill>
                <a:latin typeface="Microsoft YaHei"/>
              </a:rPr>
              <a:t>3 mimari × 3 veri seti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52848" y="3226810"/>
            <a:ext cx="228921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43" b="1" i="0">
                <a:solidFill>
                  <a:srgbClr val="64718F"/>
                </a:solidFill>
                <a:latin typeface="Montserrat"/>
              </a:rPr>
              <a:t>Öz-Eğitim Yineleme Döngüsü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05808" y="3986856"/>
            <a:ext cx="66182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9" b="1" i="0">
                <a:solidFill>
                  <a:srgbClr val="1B2A6B"/>
                </a:solidFill>
                <a:latin typeface="Montserrat"/>
              </a:rPr>
              <a:t>Etiketli Veri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4954" y="4135234"/>
            <a:ext cx="483530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 i="0">
                <a:solidFill>
                  <a:srgbClr val="64718F"/>
                </a:solidFill>
                <a:latin typeface="Inter 18pt"/>
              </a:rPr>
              <a:t>%10 bölüm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68276" y="3986856"/>
            <a:ext cx="797549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9" b="1" i="0">
                <a:solidFill>
                  <a:srgbClr val="1B2A6B"/>
                </a:solidFill>
                <a:latin typeface="Montserrat"/>
              </a:rPr>
              <a:t>Model Eğitimi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42688" y="4135234"/>
            <a:ext cx="648874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 i="0">
                <a:solidFill>
                  <a:srgbClr val="64718F"/>
                </a:solidFill>
                <a:latin typeface="Inter 18pt"/>
              </a:rPr>
              <a:t>çapraz-entropi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1363" y="3986856"/>
            <a:ext cx="43218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9" b="1" i="0">
                <a:solidFill>
                  <a:srgbClr val="1B2A6B"/>
                </a:solidFill>
                <a:latin typeface="Montserrat"/>
              </a:rPr>
              <a:t>Tahmin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2870" y="4135234"/>
            <a:ext cx="64917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 i="0">
                <a:solidFill>
                  <a:srgbClr val="64718F"/>
                </a:solidFill>
                <a:latin typeface="Inter 18pt"/>
              </a:rPr>
              <a:t>etiketsiz havuz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43245" y="3986856"/>
            <a:ext cx="36893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9" b="1" i="0">
                <a:solidFill>
                  <a:srgbClr val="1B2A6B"/>
                </a:solidFill>
                <a:latin typeface="Montserrat"/>
              </a:rPr>
              <a:t>Güven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93240" y="4135234"/>
            <a:ext cx="469094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 i="0">
                <a:solidFill>
                  <a:srgbClr val="64718F"/>
                </a:solidFill>
                <a:latin typeface="Inter 18pt"/>
              </a:rPr>
              <a:t>eşik filtresi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825338" y="3986856"/>
            <a:ext cx="86541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59" b="1" i="0">
                <a:solidFill>
                  <a:srgbClr val="1B2A6B"/>
                </a:solidFill>
                <a:latin typeface="Montserrat"/>
              </a:rPr>
              <a:t>Sözde Etiketler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32938" y="4135234"/>
            <a:ext cx="650362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90" b="0" i="0">
                <a:solidFill>
                  <a:srgbClr val="64718F"/>
                </a:solidFill>
                <a:latin typeface="Inter 18pt"/>
              </a:rPr>
              <a:t>müfredat sırası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15300" y="4418298"/>
            <a:ext cx="1383322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26" b="0" i="0">
                <a:latin typeface="Inter 18pt"/>
              </a:rPr>
              <a:t>Yinelemeli yeniden eğitim döngüsü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69029" y="4745861"/>
            <a:ext cx="113746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7" b="1" i="0">
                <a:solidFill>
                  <a:srgbClr val="5E6C88"/>
                </a:solidFill>
                <a:latin typeface="Inter 18pt"/>
              </a:rPr>
              <a:t>Sözde Etiket Kalitesi: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36747" y="4750623"/>
            <a:ext cx="97331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4" b="0" i="0">
                <a:solidFill>
                  <a:srgbClr val="1E2A40"/>
                </a:solidFill>
                <a:latin typeface="Inter 18pt"/>
              </a:rPr>
              <a:t>At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3033" y="4750623"/>
            <a:ext cx="613305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4" b="0" i="0">
                <a:solidFill>
                  <a:srgbClr val="1E2A40"/>
                </a:solidFill>
                <a:latin typeface="Inter 18pt"/>
              </a:rPr>
              <a:t>Sonraki turlar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565293" y="4750623"/>
            <a:ext cx="26074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4" b="0" i="0">
                <a:solidFill>
                  <a:srgbClr val="1E2A40"/>
                </a:solidFill>
                <a:latin typeface="Inter 18pt"/>
              </a:rPr>
              <a:t>Kabul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540290" y="6541725"/>
            <a:ext cx="28574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3" b="0" i="0">
                <a:solidFill>
                  <a:srgbClr val="6A7184"/>
                </a:solidFill>
                <a:latin typeface="Montserrat"/>
              </a:rPr>
              <a:t>9 / 22</a:t>
            </a:r>
          </a:p>
        </p:txBody>
      </p:sp>
      <p:sp>
        <p:nvSpPr>
          <p:cNvPr id="70" name="TextBox 89">
            <a:extLst>
              <a:ext uri="{FF2B5EF4-FFF2-40B4-BE49-F238E27FC236}">
                <a16:creationId xmlns:a16="http://schemas.microsoft.com/office/drawing/2014/main" id="{B3C04E35-9EBF-4BA9-A896-90224BDCEF55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714648"/>
            <a:ext cx="5334000" cy="4671119"/>
          </a:xfrm>
          <a:prstGeom prst="roundRect">
            <a:avLst>
              <a:gd name="adj" fmla="val 2446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28875" y="3029098"/>
            <a:ext cx="1238250" cy="438150"/>
          </a:xfrm>
          <a:prstGeom prst="roundRect">
            <a:avLst>
              <a:gd name="adj" fmla="val 17391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2299" y="3181419"/>
            <a:ext cx="152396" cy="13334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41" y="3895478"/>
            <a:ext cx="95247" cy="6667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62075" y="3962251"/>
            <a:ext cx="19050" cy="19050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038475" y="3895576"/>
            <a:ext cx="19050" cy="190500"/>
          </a:xfrm>
          <a:prstGeom prst="rect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299" y="4085973"/>
            <a:ext cx="95247" cy="66673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658" y="3895478"/>
            <a:ext cx="95247" cy="6667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14875" y="3962251"/>
            <a:ext cx="19050" cy="190500"/>
          </a:xfrm>
          <a:prstGeom prst="rect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98414" y="4242345"/>
            <a:ext cx="910530" cy="602307"/>
          </a:xfrm>
          <a:prstGeom prst="roundRect">
            <a:avLst>
              <a:gd name="adj" fmla="val 12651"/>
            </a:avLst>
          </a:prstGeom>
          <a:solidFill>
            <a:srgbClr val="FFFFFF"/>
          </a:solidFill>
          <a:ln w="25400">
            <a:solidFill>
              <a:srgbClr val="7B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77429" y="4322158"/>
            <a:ext cx="152396" cy="15239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592734" y="4242345"/>
            <a:ext cx="910530" cy="602307"/>
          </a:xfrm>
          <a:prstGeom prst="roundRect">
            <a:avLst>
              <a:gd name="adj" fmla="val 12651"/>
            </a:avLst>
          </a:prstGeom>
          <a:solidFill>
            <a:srgbClr val="FFFFFF"/>
          </a:solidFill>
          <a:ln w="25400">
            <a:solidFill>
              <a:srgbClr val="7B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71725" y="4322158"/>
            <a:ext cx="152396" cy="15239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587055" y="4242345"/>
            <a:ext cx="910530" cy="602307"/>
          </a:xfrm>
          <a:prstGeom prst="roundRect">
            <a:avLst>
              <a:gd name="adj" fmla="val 12651"/>
            </a:avLst>
          </a:prstGeom>
          <a:solidFill>
            <a:srgbClr val="FFFFFF"/>
          </a:solidFill>
          <a:ln w="25400">
            <a:solidFill>
              <a:srgbClr val="7B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6021" y="4322158"/>
            <a:ext cx="152396" cy="1523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80901" y="304744"/>
            <a:ext cx="1175147" cy="188209"/>
          </a:xfrm>
          <a:prstGeom prst="rect">
            <a:avLst/>
          </a:prstGeom>
          <a:solidFill>
            <a:srgbClr val="1B2A6B"/>
          </a:solidFill>
        </p:spPr>
        <p:txBody>
          <a:bodyPr wrap="none" lIns="99057" tIns="27431" rIns="99057" bIns="27431">
            <a:spAutoFit/>
          </a:bodyPr>
          <a:lstStyle/>
          <a:p>
            <a:pPr algn="l"/>
            <a:r>
              <a:rPr sz="759" b="1" i="0">
                <a:solidFill>
                  <a:srgbClr val="FFFFFF"/>
                </a:solidFill>
                <a:latin typeface="Montserrat"/>
              </a:rPr>
              <a:t>PARADİGMA III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0990" y="525201"/>
            <a:ext cx="8662919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Eğitim Paradigması III — Federated Öğrenme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9059" y="1041770"/>
            <a:ext cx="11146382" cy="434567"/>
          </a:xfrm>
          <a:prstGeom prst="rect">
            <a:avLst/>
          </a:prstGeom>
          <a:noFill/>
        </p:spPr>
        <p:txBody>
          <a:bodyPr wrap="square" lIns="121916" tIns="0" rIns="0" bIns="0">
            <a:spAutoFit/>
          </a:bodyPr>
          <a:lstStyle/>
          <a:p>
            <a:pPr algn="l"/>
            <a:r>
              <a:rPr sz="1226" b="0" i="0">
                <a:solidFill>
                  <a:srgbClr val="0D1B4B"/>
                </a:solidFill>
                <a:latin typeface="Inter 18pt"/>
              </a:rPr>
              <a:t>Federated öğrenme, model eğitimini simüle edilmiş istemcilere dağıtır — her biri ayrık bir veri bölümü tutar — ham piksel verilerini merkezi hale getirmeden.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02005" y="2794773"/>
            <a:ext cx="169168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791" b="1" i="0">
                <a:solidFill>
                  <a:srgbClr val="1B2A6B"/>
                </a:solidFill>
                <a:latin typeface="Montserrat"/>
              </a:rPr>
              <a:t>FEDERATED EĞİTİM TURU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5565" y="3176656"/>
            <a:ext cx="95783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FFFFFF"/>
                </a:solidFill>
                <a:latin typeface="Montserrat"/>
              </a:rPr>
              <a:t>Merkezi Sunucu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4130" y="3512761"/>
            <a:ext cx="867586" cy="150491"/>
          </a:xfrm>
          <a:prstGeom prst="rect">
            <a:avLst/>
          </a:prstGeom>
          <a:solidFill>
            <a:srgbClr val="00C2E0"/>
          </a:solidFill>
        </p:spPr>
        <p:txBody>
          <a:bodyPr wrap="none" lIns="68578" tIns="22859" rIns="68578" bIns="22859">
            <a:spAutoFit/>
          </a:bodyPr>
          <a:lstStyle/>
          <a:p>
            <a:pPr algn="l"/>
            <a:r>
              <a:rPr sz="654" b="1" i="0">
                <a:solidFill>
                  <a:srgbClr val="444444"/>
                </a:solidFill>
                <a:latin typeface="Inter 18pt"/>
              </a:rPr>
              <a:t>FedAvg Toplama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454" y="3788771"/>
            <a:ext cx="668221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2" b="1" i="0">
                <a:solidFill>
                  <a:srgbClr val="744AEF"/>
                </a:solidFill>
                <a:latin typeface="Inter 18pt"/>
              </a:rPr>
              <a:t>Ağırlık Yükleme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04724" y="3788771"/>
            <a:ext cx="88639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2" b="1" i="0">
                <a:solidFill>
                  <a:srgbClr val="00758F"/>
                </a:solidFill>
                <a:latin typeface="Inter 18pt"/>
              </a:rPr>
              <a:t>Küresel Model Yayını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0171" y="3788771"/>
            <a:ext cx="668221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32" b="1" i="0">
                <a:solidFill>
                  <a:srgbClr val="744AEF"/>
                </a:solidFill>
                <a:latin typeface="Inter 18pt"/>
              </a:rPr>
              <a:t>Ağırlık Yükleme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41404" y="4503128"/>
            <a:ext cx="424447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76" b="1" i="0">
                <a:solidFill>
                  <a:srgbClr val="1B2A6B"/>
                </a:solidFill>
                <a:latin typeface="Inter 18pt"/>
              </a:rPr>
              <a:t>İstemci 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6127" y="4654631"/>
            <a:ext cx="594851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2" b="0" i="0">
                <a:solidFill>
                  <a:srgbClr val="687696"/>
                </a:solidFill>
                <a:latin typeface="Inter 18pt"/>
              </a:rPr>
              <a:t>Bölge 1 Bölümü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9420" y="4503128"/>
            <a:ext cx="416857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76" b="1" i="0">
                <a:solidFill>
                  <a:srgbClr val="1B2A6B"/>
                </a:solidFill>
                <a:latin typeface="Inter 18pt"/>
              </a:rPr>
              <a:t>İstemci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1940" y="4654631"/>
            <a:ext cx="611817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2" b="0" i="0">
                <a:solidFill>
                  <a:srgbClr val="687696"/>
                </a:solidFill>
                <a:latin typeface="Inter 18pt"/>
              </a:rPr>
              <a:t>Bölge 2 Bölümü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29251" y="4503128"/>
            <a:ext cx="425935" cy="11429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76" b="1" i="0">
                <a:solidFill>
                  <a:srgbClr val="1B2A6B"/>
                </a:solidFill>
                <a:latin typeface="Inter 18pt"/>
              </a:rPr>
              <a:t>İstemci 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0283" y="4654631"/>
            <a:ext cx="623871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12" b="0" i="0">
                <a:solidFill>
                  <a:srgbClr val="687696"/>
                </a:solidFill>
                <a:latin typeface="Inter 18pt"/>
              </a:rPr>
              <a:t>Bölge N Bölümü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851" y="4930225"/>
            <a:ext cx="4999577" cy="396230"/>
          </a:xfrm>
          <a:prstGeom prst="rect">
            <a:avLst/>
          </a:prstGeom>
          <a:noFill/>
        </p:spPr>
        <p:txBody>
          <a:bodyPr wrap="square" lIns="91437" tIns="45718" rIns="91437" bIns="45718">
            <a:spAutoFit/>
          </a:bodyPr>
          <a:lstStyle/>
          <a:p>
            <a:pPr algn="l"/>
            <a:r>
              <a:rPr sz="806" b="0" i="1">
                <a:solidFill>
                  <a:srgbClr val="646B7D"/>
                </a:solidFill>
                <a:latin typeface="Microsoft YaHei"/>
              </a:rPr>
              <a:t>[EKLE: Diyagram — federated tur: istemci yerel eğitimi → ağırlık yükleme → FedAvg → küresel model yayını]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9685" y="6532200"/>
            <a:ext cx="371019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A7184"/>
                </a:solidFill>
                <a:latin typeface="Inter 18pt"/>
              </a:rPr>
              <a:t>10 / 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8122" y="2514983"/>
            <a:ext cx="5882582" cy="30700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82756" indent="-182756" algn="l">
              <a:lnSpc>
                <a:spcPts val="1618"/>
              </a:lnSpc>
              <a:spcBef>
                <a:spcPts val="0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115" b="0" i="0">
                <a:solidFill>
                  <a:srgbClr val="1E2A40"/>
                </a:solidFill>
                <a:latin typeface="Inter 18pt"/>
              </a:rPr>
              <a:t>Veri, dağıtık düğümleri simüle eden N istemciye bölünür (örn. ayrı coğrafi bölgeler veya sensör platformları)</a:t>
            </a:r>
            <a:r>
              <a:rPr sz="869" b="0" i="0">
                <a:solidFill>
                  <a:srgbClr val="007B96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7B96"/>
                </a:solidFill>
                <a:latin typeface="Inter 18pt"/>
                <a:hlinkClick r:id="rId6" tooltip="ISPRS-Archives - Smart Drones, Smarter Learning: Fede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</a:p>
          <a:p>
            <a:pPr marL="182756" indent="-182756" algn="l">
              <a:lnSpc>
                <a:spcPts val="1618"/>
              </a:lnSpc>
              <a:spcBef>
                <a:spcPts val="65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91" b="1" i="0">
                <a:solidFill>
                  <a:srgbClr val="1B2A6B"/>
                </a:solidFill>
                <a:latin typeface="Inter 18pt"/>
              </a:rPr>
              <a:t>Yerel eğitim, küresel toplama:</a:t>
            </a:r>
            <a:r>
              <a:rPr sz="1115" b="0" i="0">
                <a:solidFill>
                  <a:srgbClr val="1E2A40"/>
                </a:solidFill>
                <a:latin typeface="Inter 18pt"/>
              </a:rPr>
              <a:t> Her istemci kendi bölümünde yerel olarak eğitim yapar; merkezi sunucu her iletişim turunda model güncellemelerini toplar (FedAvg)</a:t>
            </a:r>
          </a:p>
          <a:p>
            <a:pPr marL="182756" indent="-182756" algn="l">
              <a:lnSpc>
                <a:spcPts val="1618"/>
              </a:lnSpc>
              <a:spcBef>
                <a:spcPts val="65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91" b="1" i="0">
                <a:solidFill>
                  <a:srgbClr val="1B2A6B"/>
                </a:solidFill>
                <a:latin typeface="Inter 18pt"/>
              </a:rPr>
              <a:t>Veri yerelliği korunur:</a:t>
            </a:r>
            <a:r>
              <a:rPr sz="1115" b="0" i="0">
                <a:solidFill>
                  <a:srgbClr val="1E2A40"/>
                </a:solidFill>
                <a:latin typeface="Inter 18pt"/>
              </a:rPr>
              <a:t> Ham hiperspektral veri istemciyi asla terk etmez — gizlilik duyarlı uzaktan algılama uygulamalarına olanak tanır</a:t>
            </a:r>
          </a:p>
          <a:p>
            <a:pPr marL="182756" indent="-182756" algn="l">
              <a:lnSpc>
                <a:spcPts val="1426"/>
              </a:lnSpc>
              <a:spcBef>
                <a:spcPts val="65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983" b="0" i="0">
                <a:solidFill>
                  <a:srgbClr val="1E2A40"/>
                </a:solidFill>
                <a:latin typeface="Microsoft YaHei"/>
              </a:rPr>
              <a:t>Üç mimari × üç veri seti → </a:t>
            </a:r>
            <a:r>
              <a:rPr sz="785" b="1" i="0">
                <a:solidFill>
                  <a:srgbClr val="1B2A6B"/>
                </a:solidFill>
                <a:latin typeface="Inter 18pt"/>
              </a:rPr>
              <a:t>9 federated model</a:t>
            </a:r>
          </a:p>
          <a:p>
            <a:pPr marL="182756" indent="-182756" algn="l">
              <a:lnSpc>
                <a:spcPts val="1618"/>
              </a:lnSpc>
              <a:spcBef>
                <a:spcPts val="65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091" b="1" i="0">
                <a:solidFill>
                  <a:srgbClr val="1B2A6B"/>
                </a:solidFill>
                <a:latin typeface="Inter 18pt"/>
              </a:rPr>
              <a:t>Temel zorluk:</a:t>
            </a:r>
            <a:r>
              <a:rPr sz="1115" b="0" i="0">
                <a:solidFill>
                  <a:srgbClr val="1E2A40"/>
                </a:solidFill>
                <a:latin typeface="Inter 18pt"/>
              </a:rPr>
              <a:t> İstatistiksel heterojenlik (non-IID veri) — her istemcinin bölümü farklı sınıf dağılımlarına sahip olabilir</a:t>
            </a:r>
          </a:p>
          <a:p>
            <a:pPr marL="182756" indent="-182756" algn="l">
              <a:lnSpc>
                <a:spcPts val="1618"/>
              </a:lnSpc>
              <a:spcBef>
                <a:spcPts val="659"/>
              </a:spcBef>
              <a:spcAft>
                <a:spcPts val="0"/>
              </a:spcAft>
              <a:buClr>
                <a:srgbClr val="007C90"/>
              </a:buClr>
              <a:buSzPct val="100000"/>
              <a:buFont typeface="Inter" charset="0"/>
              <a:buChar char="●"/>
            </a:pPr>
            <a:r>
              <a:rPr sz="1115" b="0" i="0">
                <a:solidFill>
                  <a:srgbClr val="1E2A40"/>
                </a:solidFill>
                <a:latin typeface="Inter 18pt"/>
              </a:rPr>
              <a:t>Federated sonuçlar, derin HSI modellerinin dağıtık, veri-gizli koşullarda yakınsayıp yakınsamayacağını ortaya koyar</a:t>
            </a:r>
            <a:r>
              <a:rPr sz="869" b="0" i="0">
                <a:solidFill>
                  <a:srgbClr val="007B96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7B96"/>
                </a:solidFill>
                <a:latin typeface="Inter 18pt"/>
                <a:hlinkClick r:id="rId6" tooltip="ISPRS-Archives - Smart Drones, Smarter Learning: Fede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</a:p>
        </p:txBody>
      </p:sp>
      <p:sp>
        <p:nvSpPr>
          <p:cNvPr id="36" name="TextBox 89">
            <a:extLst>
              <a:ext uri="{FF2B5EF4-FFF2-40B4-BE49-F238E27FC236}">
                <a16:creationId xmlns:a16="http://schemas.microsoft.com/office/drawing/2014/main" id="{E54DEB45-6836-5FFC-A049-EFD1825A6555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264294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546175"/>
            <a:ext cx="3688109" cy="4748063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3760" y="176138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0082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9763" y="1877360"/>
            <a:ext cx="148956" cy="14894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3760" y="2502842"/>
            <a:ext cx="3322587" cy="585638"/>
          </a:xfrm>
          <a:prstGeom prst="roundRect">
            <a:avLst>
              <a:gd name="adj" fmla="val 9758"/>
            </a:avLst>
          </a:prstGeom>
          <a:solidFill>
            <a:srgbClr val="E5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186904" y="2586632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B2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766292" y="2586632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00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448817" y="2586632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00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77306" y="2586632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00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63760" y="3243708"/>
            <a:ext cx="66675" cy="66675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3760" y="3651200"/>
            <a:ext cx="66675" cy="66675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63760" y="4058691"/>
            <a:ext cx="66675" cy="66675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251870" y="1546175"/>
            <a:ext cx="3688109" cy="4748063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34631" y="176138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1227" y="1868682"/>
            <a:ext cx="167576" cy="166299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434631" y="2665362"/>
            <a:ext cx="3322587" cy="771376"/>
          </a:xfrm>
          <a:prstGeom prst="roundRect">
            <a:avLst>
              <a:gd name="adj" fmla="val 7408"/>
            </a:avLst>
          </a:prstGeom>
          <a:solidFill>
            <a:srgbClr val="EF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166568" y="2803921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CDB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702200" y="2749153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37833" y="2803921"/>
            <a:ext cx="361950" cy="361950"/>
          </a:xfrm>
          <a:prstGeom prst="roundRect">
            <a:avLst>
              <a:gd name="adj" fmla="val 10526"/>
            </a:avLst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739383" y="2842021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4A1F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434631" y="3591966"/>
            <a:ext cx="66675" cy="66675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34631" y="3822352"/>
            <a:ext cx="66675" cy="66675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434631" y="4052738"/>
            <a:ext cx="66675" cy="66675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22741" y="1546175"/>
            <a:ext cx="3688109" cy="4748063"/>
          </a:xfrm>
          <a:prstGeom prst="roundRect">
            <a:avLst>
              <a:gd name="adj" fmla="val 2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305502" y="176138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A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12001" y="1868043"/>
            <a:ext cx="167576" cy="167576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8305502" y="2665362"/>
            <a:ext cx="3322587" cy="585638"/>
          </a:xfrm>
          <a:prstGeom prst="roundRect">
            <a:avLst>
              <a:gd name="adj" fmla="val 9758"/>
            </a:avLst>
          </a:prstGeom>
          <a:solidFill>
            <a:srgbClr val="FE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28645" y="2749153"/>
            <a:ext cx="457200" cy="285750"/>
          </a:xfrm>
          <a:prstGeom prst="roundRect">
            <a:avLst>
              <a:gd name="adj" fmla="val 13333"/>
            </a:avLst>
          </a:prstGeom>
          <a:solidFill>
            <a:srgbClr val="FED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567713" y="2749153"/>
            <a:ext cx="457200" cy="285750"/>
          </a:xfrm>
          <a:prstGeom prst="roundRect">
            <a:avLst>
              <a:gd name="adj" fmla="val 13333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164514" y="2749153"/>
            <a:ext cx="457200" cy="285750"/>
          </a:xfrm>
          <a:prstGeom prst="roundRect">
            <a:avLst>
              <a:gd name="adj" fmla="val 13333"/>
            </a:avLst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761315" y="2749153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A06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05502" y="3406229"/>
            <a:ext cx="66675" cy="66675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305502" y="3813720"/>
            <a:ext cx="66675" cy="66675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305502" y="4221212"/>
            <a:ext cx="66675" cy="66675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0990" y="304792"/>
            <a:ext cx="142975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007C90"/>
                </a:solidFill>
                <a:latin typeface="Montserrat"/>
              </a:rPr>
              <a:t>Model Mimarileri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90" y="457188"/>
            <a:ext cx="3081111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Üç Mimari Ailesi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990" y="958429"/>
            <a:ext cx="10429762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0D1B4B"/>
                </a:solidFill>
                <a:latin typeface="Inter 18pt"/>
              </a:rPr>
              <a:t>Yerel 2B uzamsal özelliklerden ortak spektral-uzamsal 3B evrişimlere ve Vision Transformer aracılığıyla küresel dikkate uzanan bir spektrum.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295" y="1851226"/>
            <a:ext cx="676853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1B2A6B"/>
                </a:solidFill>
                <a:latin typeface="Montserrat"/>
              </a:rPr>
              <a:t>2D CNN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746" y="2233705"/>
            <a:ext cx="263806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4F5C7A"/>
                </a:solidFill>
                <a:latin typeface="Inter 18pt"/>
              </a:rPr>
              <a:t>Uzamsal doku çıkarıcı — verimli temel mimari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8127" y="2674672"/>
            <a:ext cx="223236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96" b="1" i="0">
                <a:solidFill>
                  <a:srgbClr val="006D85"/>
                </a:solidFill>
                <a:latin typeface="Microsoft YaHei"/>
              </a:rPr>
              <a:t>H×W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7710" y="2895081"/>
            <a:ext cx="244072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Yama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18306" y="2724081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93482" y="2674672"/>
            <a:ext cx="231124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Conv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12214" y="2895081"/>
            <a:ext cx="59395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2B Katmanlar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51862" y="2724081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75991" y="2674672"/>
            <a:ext cx="231124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Conv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45770" y="2895081"/>
            <a:ext cx="491864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Havuzlama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3323" y="2724081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59680" y="2674672"/>
            <a:ext cx="120845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FC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019944" y="2895081"/>
            <a:ext cx="200317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Sınıf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879" y="3204487"/>
            <a:ext cx="3182163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PCA ile indirgenmiş yamayı 2B uzamsal görüntü olarak işler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8879" y="3611968"/>
            <a:ext cx="2946723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Yığılmış evrişim katmanları doku ve uzamsal yapıyı çıkarır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8879" y="4019449"/>
            <a:ext cx="2910707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Hesaplama açısından verimli; en düşük parametre sayısı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5" tooltip="Hyperspectral Image Classification using Spectr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3717" y="5993247"/>
            <a:ext cx="487905" cy="163825"/>
          </a:xfrm>
          <a:prstGeom prst="rect">
            <a:avLst/>
          </a:prstGeom>
          <a:solidFill>
            <a:srgbClr val="E5F9FD"/>
          </a:solidFill>
        </p:spPr>
        <p:txBody>
          <a:bodyPr wrap="none" lIns="83817" tIns="15239" rIns="83817" bIns="15239">
            <a:spAutoFit/>
          </a:bodyPr>
          <a:lstStyle/>
          <a:p>
            <a:pPr algn="l"/>
            <a:r>
              <a:rPr sz="785" b="1" i="0">
                <a:solidFill>
                  <a:srgbClr val="006D82"/>
                </a:solidFill>
                <a:latin typeface="Inter 18pt"/>
              </a:rPr>
              <a:t>Temel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2432" y="5993247"/>
            <a:ext cx="427780" cy="163825"/>
          </a:xfrm>
          <a:prstGeom prst="rect">
            <a:avLst/>
          </a:prstGeom>
          <a:solidFill>
            <a:srgbClr val="E5F9FD"/>
          </a:solidFill>
        </p:spPr>
        <p:txBody>
          <a:bodyPr wrap="none" lIns="83817" tIns="15239" rIns="83817" bIns="15239">
            <a:spAutoFit/>
          </a:bodyPr>
          <a:lstStyle/>
          <a:p>
            <a:pPr algn="l"/>
            <a:r>
              <a:rPr sz="785" b="1" i="0">
                <a:solidFill>
                  <a:srgbClr val="006D82"/>
                </a:solidFill>
                <a:latin typeface="Inter 18pt"/>
              </a:rPr>
              <a:t>Hafif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22069" y="1851226"/>
            <a:ext cx="677299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1B2A6B"/>
                </a:solidFill>
                <a:latin typeface="Montserrat"/>
              </a:rPr>
              <a:t>3D CNN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520" y="2233705"/>
            <a:ext cx="2980655" cy="31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4F5C7A"/>
                </a:solidFill>
                <a:latin typeface="Inter 18pt"/>
              </a:rPr>
              <a:t>Spektral-uzamsal ortak modelleyici — bantlar arası korelasyonlar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74922" y="2930054"/>
            <a:ext cx="344826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596" b="1" i="0">
                <a:solidFill>
                  <a:srgbClr val="3A0FAA"/>
                </a:solidFill>
                <a:latin typeface="Microsoft YaHei"/>
              </a:rPr>
              <a:t>H×W×B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07216" y="3188562"/>
            <a:ext cx="280385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Hacim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4069" y="2979464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767392" y="2820520"/>
            <a:ext cx="231124" cy="214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3D Conv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7977" y="3133795"/>
            <a:ext cx="430102" cy="214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Spektral+</a:t>
            </a:r>
          </a:p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Uzamsal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43768" y="2979464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3011" y="2875287"/>
            <a:ext cx="231124" cy="2143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3D Conv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49731" y="3188562"/>
            <a:ext cx="337682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Derinlik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45307" y="2979464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21664" y="2930054"/>
            <a:ext cx="120845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FC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81927" y="3150463"/>
            <a:ext cx="200317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Sınıf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69653" y="3552736"/>
            <a:ext cx="283153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5" b="0" i="0">
                <a:solidFill>
                  <a:srgbClr val="1E2A40"/>
                </a:solidFill>
                <a:latin typeface="Microsoft YaHei"/>
              </a:rPr>
              <a:t>Yamayı 3B hacim olarak ele alır (Y × G × Bantlar)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69653" y="3783116"/>
            <a:ext cx="2659938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Uzamsal ve spektral boyutları birlikte evriştirir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569653" y="4013496"/>
            <a:ext cx="2839569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Bantlar arası korelasyonları yakalar; daha yüksek parametre sayısı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6" tooltip="Hyperspectral Image Classification with Multi-Path 3D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434490" y="5993247"/>
            <a:ext cx="1116837" cy="163825"/>
          </a:xfrm>
          <a:prstGeom prst="rect">
            <a:avLst/>
          </a:prstGeom>
          <a:solidFill>
            <a:srgbClr val="EFE8FF"/>
          </a:solidFill>
        </p:spPr>
        <p:txBody>
          <a:bodyPr wrap="none" lIns="83817" tIns="15239" rIns="83817" bIns="15239">
            <a:spAutoFit/>
          </a:bodyPr>
          <a:lstStyle/>
          <a:p>
            <a:pPr algn="l"/>
            <a:r>
              <a:rPr sz="785" b="1" i="0">
                <a:solidFill>
                  <a:srgbClr val="4B1FBB"/>
                </a:solidFill>
                <a:latin typeface="Inter 18pt"/>
              </a:rPr>
              <a:t>Spektral-Uzamsal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12138" y="5993247"/>
            <a:ext cx="1057605" cy="163825"/>
          </a:xfrm>
          <a:prstGeom prst="rect">
            <a:avLst/>
          </a:prstGeom>
          <a:solidFill>
            <a:srgbClr val="EFE8FF"/>
          </a:solidFill>
        </p:spPr>
        <p:txBody>
          <a:bodyPr wrap="none" lIns="83817" tIns="15239" rIns="83817" bIns="15239">
            <a:spAutoFit/>
          </a:bodyPr>
          <a:lstStyle/>
          <a:p>
            <a:pPr algn="l"/>
            <a:r>
              <a:rPr sz="785" b="1" i="0">
                <a:solidFill>
                  <a:srgbClr val="4B1FBB"/>
                </a:solidFill>
                <a:latin typeface="Inter 18pt"/>
              </a:rPr>
              <a:t>Zengin Özellikler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92843" y="1851226"/>
            <a:ext cx="2101698" cy="2000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60" b="1" i="0">
                <a:solidFill>
                  <a:srgbClr val="1B2A6B"/>
                </a:solidFill>
                <a:latin typeface="Montserrat"/>
              </a:rPr>
              <a:t>Vision Transformer (ViT)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305294" y="2233705"/>
            <a:ext cx="3232466" cy="314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4F5C7A"/>
                </a:solidFill>
                <a:latin typeface="Inter 18pt"/>
              </a:rPr>
              <a:t>Küresel dikkat modeli — uzun menzilli spektral-uzamsal bağımlılıklar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997774" y="2837188"/>
            <a:ext cx="318335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805000"/>
                </a:solidFill>
                <a:latin typeface="Inter 18pt"/>
              </a:rPr>
              <a:t>Tokens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886305" y="3057597"/>
            <a:ext cx="541571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Yama Bölme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73566" y="2886598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86236" y="2837188"/>
            <a:ext cx="219664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MHA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574022" y="3057597"/>
            <a:ext cx="444092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Öz-Dikkat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70351" y="2886598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04750" y="2837188"/>
            <a:ext cx="176059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FFN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81523" y="3057597"/>
            <a:ext cx="422512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Dönüşüm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67137" y="2886598"/>
            <a:ext cx="9144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18" b="1" i="0">
                <a:solidFill>
                  <a:srgbClr val="3A4560"/>
                </a:solidFill>
                <a:latin typeface="Inter 18pt"/>
              </a:rPr>
              <a:t>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843494" y="2837188"/>
            <a:ext cx="120845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FFFFFF"/>
                </a:solidFill>
                <a:latin typeface="Inter 18pt"/>
              </a:rPr>
              <a:t>FC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803758" y="3057597"/>
            <a:ext cx="200317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654" b="1" i="0">
                <a:solidFill>
                  <a:srgbClr val="3A4560"/>
                </a:solidFill>
                <a:latin typeface="Inter 18pt"/>
              </a:rPr>
              <a:t>Sınıf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440427" y="3367003"/>
            <a:ext cx="2977529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Yamayı token'lara böler; tam spektral-uzamsal alan genelinde öz-dikkat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40427" y="3774484"/>
            <a:ext cx="2740452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Spektral-uzamsal uzayda uzun menzilli küresel bağımlılıkları modeller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440427" y="4181965"/>
            <a:ext cx="2978869" cy="329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5" b="0" i="0">
                <a:solidFill>
                  <a:srgbClr val="1E2A40"/>
                </a:solidFill>
                <a:latin typeface="Inter 18pt"/>
              </a:rPr>
              <a:t>En ifade edici ancak en fazla veri gerektiren mimari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6" tooltip="Hyperspectral Image Classification with Multi-Path 3D...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05264" y="5993247"/>
            <a:ext cx="504425" cy="163825"/>
          </a:xfrm>
          <a:prstGeom prst="rect">
            <a:avLst/>
          </a:prstGeom>
          <a:solidFill>
            <a:srgbClr val="FEF7E8"/>
          </a:solidFill>
        </p:spPr>
        <p:txBody>
          <a:bodyPr wrap="none" lIns="83817" tIns="15239" rIns="83817" bIns="15239">
            <a:spAutoFit/>
          </a:bodyPr>
          <a:lstStyle/>
          <a:p>
            <a:pPr algn="l"/>
            <a:r>
              <a:rPr sz="785" b="1" i="0">
                <a:solidFill>
                  <a:srgbClr val="7A4A00"/>
                </a:solidFill>
                <a:latin typeface="Inter 18pt"/>
              </a:rPr>
              <a:t>Dikkat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70499" y="5993247"/>
            <a:ext cx="990188" cy="163825"/>
          </a:xfrm>
          <a:prstGeom prst="rect">
            <a:avLst/>
          </a:prstGeom>
          <a:solidFill>
            <a:srgbClr val="FEF7E8"/>
          </a:solidFill>
        </p:spPr>
        <p:txBody>
          <a:bodyPr wrap="none" lIns="83817" tIns="15239" rIns="83817" bIns="15239">
            <a:spAutoFit/>
          </a:bodyPr>
          <a:lstStyle/>
          <a:p>
            <a:pPr algn="l"/>
            <a:r>
              <a:rPr sz="785" b="1" i="0">
                <a:solidFill>
                  <a:srgbClr val="7A4A00"/>
                </a:solidFill>
                <a:latin typeface="Inter 18pt"/>
              </a:rPr>
              <a:t>Küresel Bağlam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698335" y="6410164"/>
            <a:ext cx="6794875" cy="219069"/>
          </a:xfrm>
          <a:prstGeom prst="rect">
            <a:avLst/>
          </a:prstGeom>
          <a:noFill/>
        </p:spPr>
        <p:txBody>
          <a:bodyPr wrap="none" lIns="0" tIns="76198" rIns="0" bIns="0">
            <a:spAutoFit/>
          </a:bodyPr>
          <a:lstStyle/>
          <a:p>
            <a:pPr algn="ctr"/>
            <a:r>
              <a:rPr sz="891" b="0" i="1">
                <a:solidFill>
                  <a:srgbClr val="3A4560"/>
                </a:solidFill>
                <a:latin typeface="Inter 18pt"/>
              </a:rPr>
              <a:t>Tüm mimariler aynı PCA ile indirgenmiş yama girdilerini alır — farklar spektral-uzamsal özelliklerin nasıl çıkarıldığındadır.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5670" y="982563"/>
            <a:ext cx="533400" cy="38100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670" y="1697682"/>
            <a:ext cx="5673179" cy="137785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776" y="184427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9469" y="1950939"/>
            <a:ext cx="165129" cy="16757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53150" y="1697682"/>
            <a:ext cx="5673179" cy="1377850"/>
          </a:xfrm>
          <a:prstGeom prst="roundRect">
            <a:avLst>
              <a:gd name="adj" fmla="val 55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30255" y="184427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2040" y="1961399"/>
            <a:ext cx="157102" cy="14665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65670" y="3189833"/>
            <a:ext cx="5673179" cy="1633091"/>
          </a:xfrm>
          <a:prstGeom prst="roundRect">
            <a:avLst>
              <a:gd name="adj" fmla="val 46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42776" y="333642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469" y="3453526"/>
            <a:ext cx="167576" cy="1466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53256" y="4217789"/>
            <a:ext cx="4808487" cy="179189"/>
          </a:xfrm>
          <a:prstGeom prst="roundRect">
            <a:avLst>
              <a:gd name="adj" fmla="val 21262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53150" y="3189833"/>
            <a:ext cx="5673179" cy="1633091"/>
          </a:xfrm>
          <a:prstGeom prst="roundRect">
            <a:avLst>
              <a:gd name="adj" fmla="val 466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330255" y="3336428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36810" y="3459795"/>
            <a:ext cx="167563" cy="134089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365670" y="4937224"/>
            <a:ext cx="5673179" cy="1438870"/>
          </a:xfrm>
          <a:prstGeom prst="roundRect">
            <a:avLst>
              <a:gd name="adj" fmla="val 52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42776" y="508381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9469" y="5190399"/>
            <a:ext cx="167576" cy="167576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153150" y="4937224"/>
            <a:ext cx="5673179" cy="1438870"/>
          </a:xfrm>
          <a:prstGeom prst="roundRect">
            <a:avLst>
              <a:gd name="adj" fmla="val 529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330255" y="5083819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7277" y="5190399"/>
            <a:ext cx="146629" cy="167576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6840735" y="5770959"/>
            <a:ext cx="4808487" cy="179189"/>
          </a:xfrm>
          <a:prstGeom prst="roundRect">
            <a:avLst>
              <a:gd name="adj" fmla="val 21262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661" y="6530265"/>
            <a:ext cx="137067" cy="13706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65661" y="304792"/>
            <a:ext cx="155908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2" b="1" i="0">
                <a:solidFill>
                  <a:srgbClr val="007C90"/>
                </a:solidFill>
                <a:latin typeface="Montserrat"/>
              </a:rPr>
              <a:t>Deneysel Kurulum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661" y="466713"/>
            <a:ext cx="8474210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27 Model Değerlendirmesi için Titiz Protokol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661" y="1131065"/>
            <a:ext cx="7854505" cy="4223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45" b="1" i="0">
                <a:solidFill>
                  <a:srgbClr val="0D1B4B"/>
                </a:solidFill>
                <a:latin typeface="Inter 18pt"/>
              </a:rPr>
              <a:t>%10/%90 eğitim/test bölümüyle titiz 10-katlı çapraz doğrulama protokolü, hiperspektral görüntüleme en iyi uygulamalarını takip eder ve tüm 27 model arasında istatistiksel olarak güvenilir karşılaştırmalar sağlar.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3230" y="1844231"/>
            <a:ext cx="130325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08297"/>
                </a:solidFill>
                <a:latin typeface="Montserrat"/>
              </a:rPr>
              <a:t>Veri Bölümleme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3230" y="2026988"/>
            <a:ext cx="159108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1B2A6B"/>
                </a:solidFill>
                <a:latin typeface="Montserrat"/>
              </a:rPr>
              <a:t>Eğitim / Test Bölümü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3230" y="2280138"/>
            <a:ext cx="4458779" cy="346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7" b="0" i="0">
                <a:solidFill>
                  <a:srgbClr val="1E2A40"/>
                </a:solidFill>
                <a:latin typeface="Inter 18pt"/>
              </a:rPr>
              <a:t>Eğitim için</a:t>
            </a:r>
            <a:r>
              <a:rPr sz="927" b="1" i="0">
                <a:solidFill>
                  <a:srgbClr val="7B4FFF"/>
                </a:solidFill>
                <a:latin typeface="Inter 18pt"/>
              </a:rPr>
              <a:t> %10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etiketli piksel — test için</a:t>
            </a:r>
            <a:r>
              <a:rPr sz="927" b="1" i="0">
                <a:solidFill>
                  <a:srgbClr val="7B4FFF"/>
                </a:solidFill>
                <a:latin typeface="Inter 18pt"/>
              </a:rPr>
              <a:t> %90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. Gerçek dünya etiket kıtlığını yansıtmak için HSI kıyaslama standardı.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40564" y="1844231"/>
            <a:ext cx="1795417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08297"/>
                </a:solidFill>
                <a:latin typeface="Montserrat"/>
              </a:rPr>
              <a:t>Doğrulama Stratejisi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40564" y="2026988"/>
            <a:ext cx="273301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1B2A6B"/>
                </a:solidFill>
                <a:latin typeface="Montserrat"/>
              </a:rPr>
              <a:t>10-Katlı Katmanlı Çapraz Doğrulama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0564" y="2280138"/>
            <a:ext cx="4373949" cy="346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7" b="0" i="0">
                <a:solidFill>
                  <a:srgbClr val="1E2A40"/>
                </a:solidFill>
                <a:latin typeface="Inter 18pt"/>
              </a:rPr>
              <a:t>Tüm</a:t>
            </a:r>
            <a:r>
              <a:rPr sz="927" b="1" i="0">
                <a:solidFill>
                  <a:srgbClr val="7B4FFF"/>
                </a:solidFill>
                <a:latin typeface="Inter 18pt"/>
              </a:rPr>
              <a:t> 27 modele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uygulandı. Sonuçlar katlarda ortalaması alınarak standart sapmayla birlikte raporlandı.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3230" y="3336345"/>
            <a:ext cx="82389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08297"/>
                </a:solidFill>
                <a:latin typeface="Montserrat"/>
              </a:rPr>
              <a:t>Metrikler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3230" y="3519101"/>
            <a:ext cx="205258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1B2A6B"/>
                </a:solidFill>
                <a:latin typeface="Montserrat"/>
              </a:rPr>
              <a:t>Beş Değerlendirme Metriği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3230" y="3772252"/>
            <a:ext cx="4547627" cy="346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7" b="0" i="0">
                <a:solidFill>
                  <a:srgbClr val="1E2A40"/>
                </a:solidFill>
                <a:latin typeface="Inter 18pt"/>
              </a:rPr>
              <a:t>Genel Doğruluk (OA), Kesinlik, Geri Çağırma, F1 Skoru, Cohen Kappa — sınıf bazında ve genel/ortalama skorlar olarak hesaplandı.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428" y="4235840"/>
            <a:ext cx="248998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3" b="1" i="0" dirty="0">
                <a:solidFill>
                  <a:srgbClr val="1B2A6B"/>
                </a:solidFill>
                <a:latin typeface="Montserrat"/>
              </a:rPr>
              <a:t>OA · </a:t>
            </a:r>
            <a:r>
              <a:rPr sz="843" b="1" i="0" dirty="0" err="1">
                <a:solidFill>
                  <a:srgbClr val="1B2A6B"/>
                </a:solidFill>
                <a:latin typeface="Montserrat"/>
              </a:rPr>
              <a:t>Kesinlik</a:t>
            </a:r>
            <a:r>
              <a:rPr sz="843" b="1" i="0" dirty="0">
                <a:solidFill>
                  <a:srgbClr val="1B2A6B"/>
                </a:solidFill>
                <a:latin typeface="Montserrat"/>
              </a:rPr>
              <a:t> · Geri </a:t>
            </a:r>
            <a:r>
              <a:rPr sz="843" b="1" i="0" dirty="0" err="1">
                <a:solidFill>
                  <a:srgbClr val="1B2A6B"/>
                </a:solidFill>
                <a:latin typeface="Montserrat"/>
              </a:rPr>
              <a:t>Çağırma</a:t>
            </a:r>
            <a:r>
              <a:rPr sz="843" b="1" i="0" dirty="0">
                <a:solidFill>
                  <a:srgbClr val="1B2A6B"/>
                </a:solidFill>
                <a:latin typeface="Montserrat"/>
              </a:rPr>
              <a:t> · F1 · Kappa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40564" y="3336345"/>
            <a:ext cx="818980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08297"/>
                </a:solidFill>
                <a:latin typeface="Montserrat"/>
              </a:rPr>
              <a:t>Uygulama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40564" y="3519101"/>
            <a:ext cx="2507988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1B2A6B"/>
                </a:solidFill>
                <a:latin typeface="Montserrat"/>
              </a:rPr>
              <a:t>Çoklu Not Defteri Jupyter İş Akışı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40564" y="3772252"/>
            <a:ext cx="4251020" cy="3466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47" b="0" i="0">
                <a:solidFill>
                  <a:srgbClr val="1E2A40"/>
                </a:solidFill>
                <a:latin typeface="Inter 18pt"/>
              </a:rPr>
              <a:t>Paradigma–mimari kombinasyonu başına bir not defteri. Tutarlı rastgele tohumlar tüm deneylerde tam tekrarlanabilirliği sağlar.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3230" y="5083692"/>
            <a:ext cx="71867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08297"/>
                </a:solidFill>
                <a:latin typeface="Montserrat"/>
              </a:rPr>
              <a:t>Donanım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230" y="5266449"/>
            <a:ext cx="1860751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1B2A6B"/>
                </a:solidFill>
                <a:latin typeface="Montserrat"/>
              </a:rPr>
              <a:t>Donanım Yapılandırması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40564" y="5083692"/>
            <a:ext cx="483381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008297"/>
                </a:solidFill>
                <a:latin typeface="Montserrat"/>
              </a:rPr>
              <a:t>Ölçek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40564" y="5266449"/>
            <a:ext cx="1860602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1B2A6B"/>
                </a:solidFill>
                <a:latin typeface="Montserrat"/>
              </a:rPr>
              <a:t>Toplam Eğitim Çalışması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40564" y="5519599"/>
            <a:ext cx="269699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7B4FFF"/>
                </a:solidFill>
                <a:latin typeface="Inter 18pt"/>
              </a:rPr>
              <a:t>3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</a:t>
            </a:r>
            <a:r>
              <a:rPr sz="835" b="0" i="0">
                <a:solidFill>
                  <a:srgbClr val="1E2A40"/>
                </a:solidFill>
                <a:latin typeface="Microsoft YaHei"/>
              </a:rPr>
              <a:t>paradigma ×</a:t>
            </a:r>
            <a:r>
              <a:rPr sz="927" b="1" i="0">
                <a:solidFill>
                  <a:srgbClr val="7B4FFF"/>
                </a:solidFill>
                <a:latin typeface="Inter 18pt"/>
              </a:rPr>
              <a:t> 3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</a:t>
            </a:r>
            <a:r>
              <a:rPr sz="835" b="0" i="0">
                <a:solidFill>
                  <a:srgbClr val="1E2A40"/>
                </a:solidFill>
                <a:latin typeface="Microsoft YaHei"/>
              </a:rPr>
              <a:t>mimari ×</a:t>
            </a:r>
            <a:r>
              <a:rPr sz="927" b="1" i="0">
                <a:solidFill>
                  <a:srgbClr val="7B4FFF"/>
                </a:solidFill>
                <a:latin typeface="Inter 18pt"/>
              </a:rPr>
              <a:t> 3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</a:t>
            </a:r>
            <a:r>
              <a:rPr sz="835" b="0" i="0">
                <a:solidFill>
                  <a:srgbClr val="1E2A40"/>
                </a:solidFill>
                <a:latin typeface="Microsoft YaHei"/>
              </a:rPr>
              <a:t>veri seti ×</a:t>
            </a:r>
            <a:r>
              <a:rPr sz="927" b="1" i="0">
                <a:solidFill>
                  <a:srgbClr val="7B4FFF"/>
                </a:solidFill>
                <a:latin typeface="Inter 18pt"/>
              </a:rPr>
              <a:t> 10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kat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6762" y="5788971"/>
            <a:ext cx="189974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43" b="1" i="0">
                <a:solidFill>
                  <a:srgbClr val="1B2A6B"/>
                </a:solidFill>
                <a:latin typeface="Montserrat"/>
              </a:rPr>
              <a:t>= toplam 270 eğitim çalışması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8926" y="6522675"/>
            <a:ext cx="354053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64718F"/>
                </a:solidFill>
                <a:latin typeface="Inter 18pt"/>
              </a:rPr>
              <a:t>Adil karşılaştırma için tüm modellere aynı ön işleme uygulandı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58288" y="6527438"/>
            <a:ext cx="36774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A7184"/>
                </a:solidFill>
                <a:latin typeface="Inter 18pt"/>
              </a:rPr>
              <a:t>12 / 22</a:t>
            </a:r>
          </a:p>
        </p:txBody>
      </p:sp>
      <p:pic>
        <p:nvPicPr>
          <p:cNvPr id="50" name="Resim 49">
            <a:extLst>
              <a:ext uri="{FF2B5EF4-FFF2-40B4-BE49-F238E27FC236}">
                <a16:creationId xmlns:a16="http://schemas.microsoft.com/office/drawing/2014/main" id="{B9BB80A7-2476-0F8B-2AB1-A46D52B275C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0540" y="5442864"/>
            <a:ext cx="3068918" cy="746086"/>
          </a:xfrm>
          <a:prstGeom prst="rect">
            <a:avLst/>
          </a:prstGeom>
        </p:spPr>
      </p:pic>
      <p:sp>
        <p:nvSpPr>
          <p:cNvPr id="51" name="Rounded Rectangle 11">
            <a:extLst>
              <a:ext uri="{FF2B5EF4-FFF2-40B4-BE49-F238E27FC236}">
                <a16:creationId xmlns:a16="http://schemas.microsoft.com/office/drawing/2014/main" id="{D2896EDA-0AEA-6523-EC81-A2DC8D814939}"/>
              </a:ext>
            </a:extLst>
          </p:cNvPr>
          <p:cNvSpPr/>
          <p:nvPr/>
        </p:nvSpPr>
        <p:spPr>
          <a:xfrm>
            <a:off x="4246222" y="5437969"/>
            <a:ext cx="1615521" cy="203895"/>
          </a:xfrm>
          <a:prstGeom prst="roundRect">
            <a:avLst>
              <a:gd name="adj" fmla="val 21262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840" b="1" dirty="0">
                <a:solidFill>
                  <a:srgbClr val="1B2A6B"/>
                </a:solidFill>
                <a:latin typeface="Montserrat"/>
              </a:rPr>
              <a:t>GPU: Google </a:t>
            </a:r>
            <a:r>
              <a:rPr lang="tr-TR" sz="840" b="1" dirty="0" err="1">
                <a:solidFill>
                  <a:srgbClr val="1B2A6B"/>
                </a:solidFill>
                <a:latin typeface="Montserrat"/>
              </a:rPr>
              <a:t>Colab</a:t>
            </a:r>
            <a:r>
              <a:rPr lang="tr-TR" sz="840" b="1" dirty="0">
                <a:solidFill>
                  <a:srgbClr val="1B2A6B"/>
                </a:solidFill>
                <a:latin typeface="Montserrat"/>
              </a:rPr>
              <a:t> A100</a:t>
            </a:r>
            <a:endParaRPr sz="8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91033"/>
          </a:xfrm>
          <a:prstGeom prst="rect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91033"/>
            <a:ext cx="12192000" cy="298846"/>
          </a:xfrm>
          <a:prstGeom prst="rect">
            <a:avLst/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91033"/>
            <a:ext cx="50800" cy="298846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9999999" y="1621184"/>
            <a:ext cx="76200" cy="7620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9999999" y="1621184"/>
            <a:ext cx="76200" cy="76200"/>
          </a:xfrm>
          <a:prstGeom prst="ellipse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9999999" y="1621184"/>
            <a:ext cx="76200" cy="7620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9999999" y="1782067"/>
            <a:ext cx="2816423" cy="85725"/>
          </a:xfrm>
          <a:prstGeom prst="roundRect">
            <a:avLst>
              <a:gd name="adj" fmla="val 44444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9999999" y="1947713"/>
            <a:ext cx="2816423" cy="85725"/>
          </a:xfrm>
          <a:prstGeom prst="roundRect">
            <a:avLst>
              <a:gd name="adj" fmla="val 44444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9999999" y="2113359"/>
            <a:ext cx="2816423" cy="85725"/>
          </a:xfrm>
          <a:prstGeom prst="roundRect">
            <a:avLst>
              <a:gd name="adj" fmla="val 44444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9999999" y="2279005"/>
            <a:ext cx="2816423" cy="85725"/>
          </a:xfrm>
          <a:prstGeom prst="roundRect">
            <a:avLst>
              <a:gd name="adj" fmla="val 44444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9999999" y="2444650"/>
            <a:ext cx="2816423" cy="85725"/>
          </a:xfrm>
          <a:prstGeom prst="roundRect">
            <a:avLst>
              <a:gd name="adj" fmla="val 44444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4792" y="310298"/>
            <a:ext cx="3046881" cy="28574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35" b="1" i="0">
                <a:solidFill>
                  <a:srgbClr val="FFFFFF"/>
                </a:solidFill>
                <a:latin typeface="Montserrat"/>
              </a:rPr>
              <a:t>Sonuçlar — Indian Pines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5648" y="351255"/>
            <a:ext cx="1831373" cy="203829"/>
          </a:xfrm>
          <a:prstGeom prst="rect">
            <a:avLst/>
          </a:prstGeom>
          <a:solidFill>
            <a:srgbClr val="00C2E0"/>
          </a:solidFill>
        </p:spPr>
        <p:txBody>
          <a:bodyPr wrap="none" lIns="106677" tIns="30479" rIns="106677" bIns="30479">
            <a:spAutoFit/>
          </a:bodyPr>
          <a:lstStyle/>
          <a:p>
            <a:pPr algn="l"/>
            <a:r>
              <a:rPr sz="746" b="1" i="0">
                <a:solidFill>
                  <a:srgbClr val="0D1B4B"/>
                </a:solidFill>
                <a:latin typeface="Microsoft YaHei"/>
              </a:rPr>
              <a:t>AVIRIS · 145×145 · 16 Sınıf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891" y="959470"/>
            <a:ext cx="8379855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0" i="1">
                <a:solidFill>
                  <a:srgbClr val="0D1B4B"/>
                </a:solidFill>
                <a:latin typeface="Inter 18pt"/>
              </a:rPr>
              <a:t>Ciddi sınıf dengesizliği ve 16 sınıfıyla Indian Pines, mimariler ve paradigmalar arasında en büyük performans yayılımını ortaya koyar.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594" y="1311738"/>
            <a:ext cx="5067322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96" b="1" i="0">
                <a:solidFill>
                  <a:srgbClr val="64718F"/>
                </a:solidFill>
                <a:latin typeface="Microsoft YaHei"/>
              </a:rPr>
              <a:t>Performans Tablosu — Paradigma × Mimari (ortalama ± std, 10 kat ÇD)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999999" y="1606857"/>
            <a:ext cx="37994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Gözetimli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99999" y="1606857"/>
            <a:ext cx="574611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Yarı-Gözetimli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999999" y="1606857"/>
            <a:ext cx="783411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Federated (Dağıtık)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999999" y="1772498"/>
            <a:ext cx="259103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Alfalfa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99999" y="1772498"/>
            <a:ext cx="26103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2" b="0" i="1">
                <a:solidFill>
                  <a:srgbClr val="6E768A"/>
                </a:solidFill>
                <a:latin typeface="Inter 18pt"/>
              </a:rPr>
              <a:t>1.000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999999" y="1938140"/>
            <a:ext cx="434567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Corn-notill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99999" y="1938140"/>
            <a:ext cx="26103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2" b="0" i="1">
                <a:solidFill>
                  <a:srgbClr val="6E768A"/>
                </a:solidFill>
                <a:latin typeface="Inter 18pt"/>
              </a:rPr>
              <a:t>0.998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999999" y="2103781"/>
            <a:ext cx="431293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Soy-mintill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999999" y="2103781"/>
            <a:ext cx="26103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2" b="0" i="1">
                <a:solidFill>
                  <a:srgbClr val="6E768A"/>
                </a:solidFill>
                <a:latin typeface="Inter 18pt"/>
              </a:rPr>
              <a:t>0.999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999999" y="2269423"/>
            <a:ext cx="562705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Yulaf (20 örn)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99999" y="2269423"/>
            <a:ext cx="26103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2" b="0" i="1">
                <a:solidFill>
                  <a:srgbClr val="6E768A"/>
                </a:solidFill>
                <a:latin typeface="Inter 18pt"/>
              </a:rPr>
              <a:t>1.000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99999" y="2435064"/>
            <a:ext cx="284403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646" b="0" i="0">
                <a:solidFill>
                  <a:srgbClr val="1E2A40"/>
                </a:solidFill>
                <a:latin typeface="Inter 18pt"/>
              </a:rPr>
              <a:t>Woods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99999" y="2435064"/>
            <a:ext cx="261038" cy="1047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612" b="0" i="1">
                <a:solidFill>
                  <a:srgbClr val="6E768A"/>
                </a:solidFill>
                <a:latin typeface="Inter 18pt"/>
              </a:rPr>
              <a:t>1.000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0143" y="1529391"/>
            <a:ext cx="150223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 err="1">
                <a:solidFill>
                  <a:srgbClr val="4A5572"/>
                </a:solidFill>
                <a:latin typeface="Montserrat"/>
              </a:rPr>
              <a:t>Sınıflandırma</a:t>
            </a:r>
            <a:r>
              <a:rPr sz="900" b="1" i="0" dirty="0">
                <a:solidFill>
                  <a:srgbClr val="4A5572"/>
                </a:solidFill>
                <a:latin typeface="Montserrat"/>
              </a:rPr>
              <a:t> </a:t>
            </a:r>
            <a:r>
              <a:rPr sz="900" b="1" i="0" dirty="0" err="1">
                <a:solidFill>
                  <a:srgbClr val="4A5572"/>
                </a:solidFill>
                <a:latin typeface="Montserrat"/>
              </a:rPr>
              <a:t>Haritaları</a:t>
            </a:r>
            <a:endParaRPr sz="900" b="1" i="0" dirty="0">
              <a:solidFill>
                <a:srgbClr val="4A5572"/>
              </a:solidFill>
              <a:latin typeface="Montserrat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34372" y="3784059"/>
            <a:ext cx="8875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</a:t>
            </a:r>
            <a:r>
              <a:rPr sz="900" b="1" i="0" dirty="0" err="1">
                <a:solidFill>
                  <a:srgbClr val="4A5572"/>
                </a:solidFill>
                <a:latin typeface="Inter 18pt"/>
              </a:rPr>
              <a:t>Gözetimli</a:t>
            </a:r>
            <a:endParaRPr sz="900" b="1" i="0" dirty="0">
              <a:solidFill>
                <a:srgbClr val="4A5572"/>
              </a:solidFill>
              <a:latin typeface="Inter 18pt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71260" y="2456202"/>
            <a:ext cx="464927" cy="95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10714" y="3784058"/>
            <a:ext cx="103631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</a:t>
            </a:r>
            <a:r>
              <a:rPr sz="900" b="1" i="0" dirty="0" err="1">
                <a:solidFill>
                  <a:srgbClr val="4A5572"/>
                </a:solidFill>
                <a:latin typeface="Inter 18pt"/>
              </a:rPr>
              <a:t>Yarı-Göz</a:t>
            </a:r>
            <a:r>
              <a:rPr lang="tr-TR" sz="900" b="1" dirty="0" err="1">
                <a:solidFill>
                  <a:srgbClr val="4A5572"/>
                </a:solidFill>
                <a:latin typeface="Inter 18pt"/>
              </a:rPr>
              <a:t>etimli</a:t>
            </a:r>
            <a:endParaRPr sz="900" b="1" i="0" dirty="0">
              <a:solidFill>
                <a:srgbClr val="4A5572"/>
              </a:solidFill>
              <a:latin typeface="Inter 18pt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968968" y="2456202"/>
            <a:ext cx="464927" cy="95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611803" y="3798831"/>
            <a:ext cx="96437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Federated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81832" y="6695907"/>
            <a:ext cx="105070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8" b="1" i="0">
                <a:solidFill>
                  <a:srgbClr val="4E5870"/>
                </a:solidFill>
                <a:latin typeface="Inter 18pt"/>
              </a:rPr>
              <a:t>13</a:t>
            </a:r>
          </a:p>
        </p:txBody>
      </p:sp>
      <p:graphicFrame>
        <p:nvGraphicFramePr>
          <p:cNvPr id="54" name="Table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4763149"/>
              </p:ext>
            </p:extLst>
          </p:nvPr>
        </p:nvGraphicFramePr>
        <p:xfrm>
          <a:off x="228593" y="1521282"/>
          <a:ext cx="5604324" cy="426084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34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4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4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40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40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978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Paradigma / Mimari</a:t>
                      </a:r>
                    </a:p>
                  </a:txBody>
                  <a:tcPr anchor="ctr"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tr-TR" sz="763" b="1" i="0" dirty="0">
                          <a:solidFill>
                            <a:srgbClr val="FFFFFF"/>
                          </a:solidFill>
                          <a:latin typeface="Inter 18pt"/>
                        </a:rPr>
                        <a:t>OA</a:t>
                      </a:r>
                      <a:r>
                        <a:rPr sz="763" b="1" i="0" dirty="0">
                          <a:solidFill>
                            <a:srgbClr val="FFFFFF"/>
                          </a:solidFill>
                          <a:latin typeface="Inter 18pt"/>
                        </a:rPr>
                        <a:t> (%)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Kesinlik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Geri Çağırma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F1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Kappa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421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08" b="1" i="0">
                          <a:solidFill>
                            <a:srgbClr val="1B2A6B"/>
                          </a:solidFill>
                          <a:latin typeface="Inter 18pt"/>
                        </a:rPr>
                        <a:t>Gözetimli</a:t>
                      </a:r>
                    </a:p>
                  </a:txBody>
                  <a:tcPr anchor="ctr"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99.91 ± 0.18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99.84 ± 0.26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99.87 ± 0.23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99.85 ± 0.19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99.90 ± 0.21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 dirty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99.90 ± 0.09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99.77 ± 0.30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99.78 ± 0.51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99.76 ± 0.41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99.89 ± 0.10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99.61 ± 0.26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99.59 ± 0.46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99.52 ± 0.45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99.53 ± 0.45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99.56 ± 0.30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421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08" b="1" i="0">
                          <a:solidFill>
                            <a:srgbClr val="1B2A6B"/>
                          </a:solidFill>
                          <a:latin typeface="Inter 18pt"/>
                        </a:rPr>
                        <a:t>Yarı-Gözetimli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75.18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70.62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57.35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59.00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71.39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66.29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70.99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46.78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47.27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60.79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55.50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31.58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32.79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30.35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47.73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421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08" b="1" i="0" dirty="0">
                          <a:solidFill>
                            <a:srgbClr val="1B2A6B"/>
                          </a:solidFill>
                          <a:latin typeface="Inter 18pt"/>
                        </a:rPr>
                        <a:t>Federated (</a:t>
                      </a:r>
                      <a:r>
                        <a:rPr sz="708" b="1" i="0" dirty="0" err="1">
                          <a:solidFill>
                            <a:srgbClr val="1B2A6B"/>
                          </a:solidFill>
                          <a:latin typeface="Inter 18pt"/>
                        </a:rPr>
                        <a:t>Dağıtık</a:t>
                      </a:r>
                      <a:r>
                        <a:rPr sz="708" b="1" i="0" dirty="0">
                          <a:solidFill>
                            <a:srgbClr val="1B2A6B"/>
                          </a:solidFill>
                          <a:latin typeface="Inter 18pt"/>
                        </a:rPr>
                        <a:t>)</a:t>
                      </a:r>
                    </a:p>
                  </a:txBody>
                  <a:tcPr anchor="ctr"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96.43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91.56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82.72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84.66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95.93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42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92.56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76.03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70.54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70.19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91.51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842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85.65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78.52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72.57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>
                          <a:solidFill>
                            <a:srgbClr val="1E2A40"/>
                          </a:solidFill>
                          <a:latin typeface="Inter 18pt"/>
                        </a:rPr>
                        <a:t>74.52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83.56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5" name="TextBox 89">
            <a:extLst>
              <a:ext uri="{FF2B5EF4-FFF2-40B4-BE49-F238E27FC236}">
                <a16:creationId xmlns:a16="http://schemas.microsoft.com/office/drawing/2014/main" id="{07FE96E2-6068-970B-D530-BAF4BD0711F7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  <p:sp>
        <p:nvSpPr>
          <p:cNvPr id="52" name="Rounded Rectangle 13">
            <a:extLst>
              <a:ext uri="{FF2B5EF4-FFF2-40B4-BE49-F238E27FC236}">
                <a16:creationId xmlns:a16="http://schemas.microsoft.com/office/drawing/2014/main" id="{466E8FD0-0981-5590-B699-9B9F068A4A41}"/>
              </a:ext>
            </a:extLst>
          </p:cNvPr>
          <p:cNvSpPr/>
          <p:nvPr/>
        </p:nvSpPr>
        <p:spPr>
          <a:xfrm>
            <a:off x="6217534" y="4579542"/>
            <a:ext cx="4788954" cy="1484373"/>
          </a:xfrm>
          <a:prstGeom prst="roundRect">
            <a:avLst>
              <a:gd name="adj" fmla="val 59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7" name="Rectangle 14">
            <a:extLst>
              <a:ext uri="{FF2B5EF4-FFF2-40B4-BE49-F238E27FC236}">
                <a16:creationId xmlns:a16="http://schemas.microsoft.com/office/drawing/2014/main" id="{99F930D5-E7CA-504B-6E26-220E760E5A5C}"/>
              </a:ext>
            </a:extLst>
          </p:cNvPr>
          <p:cNvSpPr/>
          <p:nvPr/>
        </p:nvSpPr>
        <p:spPr>
          <a:xfrm>
            <a:off x="6217533" y="4579542"/>
            <a:ext cx="54754" cy="148437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58" name="Picture 15" descr="image.png">
            <a:extLst>
              <a:ext uri="{FF2B5EF4-FFF2-40B4-BE49-F238E27FC236}">
                <a16:creationId xmlns:a16="http://schemas.microsoft.com/office/drawing/2014/main" id="{E555B2FB-8331-D332-9D25-0FC900E261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9742" y="4857434"/>
            <a:ext cx="105986" cy="105986"/>
          </a:xfrm>
          <a:prstGeom prst="rect">
            <a:avLst/>
          </a:prstGeom>
        </p:spPr>
      </p:pic>
      <p:pic>
        <p:nvPicPr>
          <p:cNvPr id="59" name="Picture 16" descr="image.png">
            <a:extLst>
              <a:ext uri="{FF2B5EF4-FFF2-40B4-BE49-F238E27FC236}">
                <a16:creationId xmlns:a16="http://schemas.microsoft.com/office/drawing/2014/main" id="{EED2419C-54C7-87A7-EA49-D3D668C3B7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9742" y="5238284"/>
            <a:ext cx="105986" cy="105986"/>
          </a:xfrm>
          <a:prstGeom prst="rect">
            <a:avLst/>
          </a:prstGeom>
        </p:spPr>
      </p:pic>
      <p:pic>
        <p:nvPicPr>
          <p:cNvPr id="60" name="Picture 17" descr="image.png">
            <a:extLst>
              <a:ext uri="{FF2B5EF4-FFF2-40B4-BE49-F238E27FC236}">
                <a16:creationId xmlns:a16="http://schemas.microsoft.com/office/drawing/2014/main" id="{EAD27678-DD27-50D0-1ADD-0EBD3C6A28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69742" y="5628760"/>
            <a:ext cx="105986" cy="105986"/>
          </a:xfrm>
          <a:prstGeom prst="rect">
            <a:avLst/>
          </a:prstGeom>
        </p:spPr>
      </p:pic>
      <p:sp>
        <p:nvSpPr>
          <p:cNvPr id="61" name="TextBox 40">
            <a:extLst>
              <a:ext uri="{FF2B5EF4-FFF2-40B4-BE49-F238E27FC236}">
                <a16:creationId xmlns:a16="http://schemas.microsoft.com/office/drawing/2014/main" id="{83590D4F-09F8-7550-22CF-241CC3F0815A}"/>
              </a:ext>
            </a:extLst>
          </p:cNvPr>
          <p:cNvSpPr txBox="1"/>
          <p:nvPr/>
        </p:nvSpPr>
        <p:spPr>
          <a:xfrm>
            <a:off x="6369742" y="4672743"/>
            <a:ext cx="1197128" cy="105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5" b="1" i="0">
                <a:solidFill>
                  <a:srgbClr val="A06C17"/>
                </a:solidFill>
                <a:latin typeface="Montserrat"/>
              </a:rPr>
              <a:t>Temel Gözlemler</a:t>
            </a:r>
          </a:p>
        </p:txBody>
      </p:sp>
      <p:sp>
        <p:nvSpPr>
          <p:cNvPr id="62" name="TextBox 41">
            <a:extLst>
              <a:ext uri="{FF2B5EF4-FFF2-40B4-BE49-F238E27FC236}">
                <a16:creationId xmlns:a16="http://schemas.microsoft.com/office/drawing/2014/main" id="{28D5C93D-CAE8-B183-D2AE-1F21AC899D41}"/>
              </a:ext>
            </a:extLst>
          </p:cNvPr>
          <p:cNvSpPr txBox="1"/>
          <p:nvPr/>
        </p:nvSpPr>
        <p:spPr>
          <a:xfrm>
            <a:off x="6514399" y="4842253"/>
            <a:ext cx="4291248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>
                <a:solidFill>
                  <a:srgbClr val="1E2A40"/>
                </a:solidFill>
                <a:latin typeface="Inter 18pt"/>
              </a:rPr>
              <a:t>Azınlık sınıfı işleme (Yulaf: 20 örnek) — Gözetimli paradigmada tüm 3 mimari F1=1.000 ile mükemmel sınıflandırma yapmıştır. Semi-supervised'de ise ciddi sınıf dengesizliği (16 sınıf, min. 20 örnek) performansı %55.50–%75.18 OA'ya düşürmüştür; nadir sınıflarda geri çağırmayı en iyi koruyan paradigma gözetimli öğrenmedir.</a:t>
            </a:r>
          </a:p>
        </p:txBody>
      </p:sp>
      <p:sp>
        <p:nvSpPr>
          <p:cNvPr id="63" name="TextBox 42">
            <a:extLst>
              <a:ext uri="{FF2B5EF4-FFF2-40B4-BE49-F238E27FC236}">
                <a16:creationId xmlns:a16="http://schemas.microsoft.com/office/drawing/2014/main" id="{9474CBA8-7178-F93E-9495-E0FC04E324D8}"/>
              </a:ext>
            </a:extLst>
          </p:cNvPr>
          <p:cNvSpPr txBox="1"/>
          <p:nvPr/>
        </p:nvSpPr>
        <p:spPr>
          <a:xfrm>
            <a:off x="6514399" y="5223102"/>
            <a:ext cx="4200455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 err="1">
                <a:solidFill>
                  <a:srgbClr val="1E2A40"/>
                </a:solidFill>
                <a:latin typeface="Inter 18pt"/>
              </a:rPr>
              <a:t>Semi-supervised ort. OA=%65.66 — gözetimliyi (ort. %99.81) 34.15 puan geride bırakmıştır. Ciddi sınıf dengesizliği sözde etiket kalitesini düşürerek müfredat öğrenmesinin etkisini kısıtlamıştır. En iyi semi-supervised sonucu CNN2D'den gelmiştir (%75.18 OA, F1=0.59).</a:t>
            </a:r>
            <a:endParaRPr sz="724" b="0" i="0" dirty="0">
              <a:solidFill>
                <a:srgbClr val="1E2A40"/>
              </a:solidFill>
              <a:latin typeface="Inter 18pt"/>
            </a:endParaRPr>
          </a:p>
        </p:txBody>
      </p:sp>
      <p:sp>
        <p:nvSpPr>
          <p:cNvPr id="64" name="TextBox 43">
            <a:extLst>
              <a:ext uri="{FF2B5EF4-FFF2-40B4-BE49-F238E27FC236}">
                <a16:creationId xmlns:a16="http://schemas.microsoft.com/office/drawing/2014/main" id="{96EAB092-5CAF-158E-F743-DAFA72D28E53}"/>
              </a:ext>
            </a:extLst>
          </p:cNvPr>
          <p:cNvSpPr txBox="1"/>
          <p:nvPr/>
        </p:nvSpPr>
        <p:spPr>
          <a:xfrm>
            <a:off x="6514399" y="5613578"/>
            <a:ext cx="4070044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 err="1">
                <a:solidFill>
                  <a:srgbClr val="1E2A40"/>
                </a:solidFill>
                <a:latin typeface="Inter 18pt"/>
              </a:rPr>
              <a:t>Federated ort. OA=%91.55 vs Gözetimli %99.81 — 8.26 puanlık fark. CNN2D Federated %96.43 OA ile en iyi federated sonucunu vermiştir. Gizlilik koruması karşılığında kabul edilen bu ödünleşim, dağıtık uzaktan algılama senaryoları için değerlendirilebilir bir bedel olarak öne çıkmaktadır.</a:t>
            </a:r>
            <a:endParaRPr sz="724" b="0" i="0" dirty="0">
              <a:solidFill>
                <a:srgbClr val="1E2A40"/>
              </a:solidFill>
              <a:latin typeface="Inter 18pt"/>
            </a:endParaRPr>
          </a:p>
        </p:txBody>
      </p:sp>
      <p:pic>
        <p:nvPicPr>
          <p:cNvPr id="67" name="Resim 66">
            <a:extLst>
              <a:ext uri="{FF2B5EF4-FFF2-40B4-BE49-F238E27FC236}">
                <a16:creationId xmlns:a16="http://schemas.microsoft.com/office/drawing/2014/main" id="{A2BF2566-5131-4574-6A3F-4110B4036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534" y="2008145"/>
            <a:ext cx="1922880" cy="1735551"/>
          </a:xfrm>
          <a:prstGeom prst="rect">
            <a:avLst/>
          </a:prstGeom>
        </p:spPr>
      </p:pic>
      <p:pic>
        <p:nvPicPr>
          <p:cNvPr id="68" name="Resim 67">
            <a:extLst>
              <a:ext uri="{FF2B5EF4-FFF2-40B4-BE49-F238E27FC236}">
                <a16:creationId xmlns:a16="http://schemas.microsoft.com/office/drawing/2014/main" id="{C2885CD0-9E79-DB54-FC69-19EE4D9F39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571" y="2008145"/>
            <a:ext cx="1919709" cy="1735551"/>
          </a:xfrm>
          <a:prstGeom prst="rect">
            <a:avLst/>
          </a:prstGeom>
        </p:spPr>
      </p:pic>
      <p:pic>
        <p:nvPicPr>
          <p:cNvPr id="69" name="Resim 68">
            <a:extLst>
              <a:ext uri="{FF2B5EF4-FFF2-40B4-BE49-F238E27FC236}">
                <a16:creationId xmlns:a16="http://schemas.microsoft.com/office/drawing/2014/main" id="{44152928-9034-107D-C495-04B9D5F9A6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9279" y="2007402"/>
            <a:ext cx="1914127" cy="1735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0293"/>
          </a:xfrm>
          <a:prstGeom prst="rect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28600" y="832693"/>
            <a:ext cx="2180629" cy="203596"/>
          </a:xfrm>
          <a:prstGeom prst="roundRect">
            <a:avLst>
              <a:gd name="adj" fmla="val 18713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7562" y="887849"/>
            <a:ext cx="106558" cy="9323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648450"/>
            <a:ext cx="12192000" cy="209550"/>
          </a:xfrm>
          <a:prstGeom prst="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4792" y="97033"/>
            <a:ext cx="2256029" cy="276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83" b="1" i="0">
                <a:solidFill>
                  <a:srgbClr val="FFFFFF"/>
                </a:solidFill>
                <a:latin typeface="Montserrat"/>
              </a:rPr>
              <a:t>Sonuçlar — Salinas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792" y="411201"/>
            <a:ext cx="9906049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14" b="0" i="1">
                <a:solidFill>
                  <a:srgbClr val="A8C8FF"/>
                </a:solidFill>
                <a:latin typeface="Inter 18pt"/>
              </a:rPr>
              <a:t>Yüksek uzamsal çözünürlüğü ve dengeli sınıflarıyla Salinas, Indian Pines'da görülen performans avantajlarının farklı bir sahne türüne genellenip genellenmediğini test eder.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809" y="863032"/>
            <a:ext cx="183039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0D1B4B"/>
                </a:solidFill>
                <a:latin typeface="Montserrat"/>
              </a:rPr>
              <a:t>Performans Sonuçları (Salinas)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652653" y="6695907"/>
            <a:ext cx="310447" cy="1238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24" b="0" i="0">
                <a:solidFill>
                  <a:srgbClr val="4E5670"/>
                </a:solidFill>
                <a:latin typeface="Inter 18pt"/>
              </a:rPr>
              <a:t>14 / 22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9460748"/>
              </p:ext>
            </p:extLst>
          </p:nvPr>
        </p:nvGraphicFramePr>
        <p:xfrm>
          <a:off x="228594" y="1112461"/>
          <a:ext cx="5716953" cy="428460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1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71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6374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>
                          <a:solidFill>
                            <a:srgbClr val="FFFFFF"/>
                          </a:solidFill>
                          <a:latin typeface="Montserrat"/>
                        </a:rPr>
                        <a:t>Paradigma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>
                          <a:solidFill>
                            <a:srgbClr val="FFFFFF"/>
                          </a:solidFill>
                          <a:latin typeface="Montserrat"/>
                        </a:rPr>
                        <a:t>Mimari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 dirty="0">
                          <a:solidFill>
                            <a:srgbClr val="FFFFFF"/>
                          </a:solidFill>
                          <a:latin typeface="Montserrat"/>
                        </a:rPr>
                        <a:t>OA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>
                          <a:solidFill>
                            <a:srgbClr val="FFFFFF"/>
                          </a:solidFill>
                          <a:latin typeface="Montserrat"/>
                        </a:rPr>
                        <a:t>Kesinlik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>
                          <a:solidFill>
                            <a:srgbClr val="FFFFFF"/>
                          </a:solidFill>
                          <a:latin typeface="Montserrat"/>
                        </a:rPr>
                        <a:t>Geri Çağırma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>
                          <a:solidFill>
                            <a:srgbClr val="FFFFFF"/>
                          </a:solidFill>
                          <a:latin typeface="Montserrat"/>
                        </a:rPr>
                        <a:t>F1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>
                          <a:solidFill>
                            <a:srgbClr val="FFFFFF"/>
                          </a:solidFill>
                          <a:latin typeface="Montserrat"/>
                        </a:rPr>
                        <a:t>Kappa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82">
                <a:tc gridSpan="7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646" b="1" i="1" dirty="0">
                          <a:solidFill>
                            <a:srgbClr val="1B2A6B"/>
                          </a:solidFill>
                          <a:latin typeface="Microsoft YaHei"/>
                        </a:rPr>
                        <a:t>10 kat </a:t>
                      </a:r>
                      <a:r>
                        <a:rPr sz="646" b="1" i="1" dirty="0" err="1">
                          <a:solidFill>
                            <a:srgbClr val="1B2A6B"/>
                          </a:solidFill>
                          <a:latin typeface="Microsoft YaHei"/>
                        </a:rPr>
                        <a:t>çapraz</a:t>
                      </a:r>
                      <a:r>
                        <a:rPr sz="646" b="1" i="1" dirty="0">
                          <a:solidFill>
                            <a:srgbClr val="1B2A6B"/>
                          </a:solidFill>
                          <a:latin typeface="Microsoft YaHei"/>
                        </a:rPr>
                        <a:t> </a:t>
                      </a:r>
                      <a:r>
                        <a:rPr sz="646" b="1" i="1" dirty="0" err="1">
                          <a:solidFill>
                            <a:srgbClr val="1B2A6B"/>
                          </a:solidFill>
                          <a:latin typeface="Microsoft YaHei"/>
                        </a:rPr>
                        <a:t>doğrulama</a:t>
                      </a:r>
                      <a:r>
                        <a:rPr sz="646" b="1" i="1" dirty="0">
                          <a:solidFill>
                            <a:srgbClr val="1B2A6B"/>
                          </a:solidFill>
                          <a:latin typeface="Microsoft YaHei"/>
                        </a:rPr>
                        <a:t> — tam </a:t>
                      </a:r>
                      <a:r>
                        <a:rPr sz="646" b="1" i="1" dirty="0" err="1">
                          <a:solidFill>
                            <a:srgbClr val="1B2A6B"/>
                          </a:solidFill>
                          <a:latin typeface="Microsoft YaHei"/>
                        </a:rPr>
                        <a:t>veri</a:t>
                      </a:r>
                      <a:r>
                        <a:rPr sz="646" b="1" i="1" dirty="0">
                          <a:solidFill>
                            <a:srgbClr val="1B2A6B"/>
                          </a:solidFill>
                          <a:latin typeface="Microsoft YaHei"/>
                        </a:rPr>
                        <a:t> </a:t>
                      </a:r>
                      <a:r>
                        <a:rPr sz="646" b="1" i="1" dirty="0" err="1">
                          <a:solidFill>
                            <a:srgbClr val="1B2A6B"/>
                          </a:solidFill>
                          <a:latin typeface="Microsoft YaHei"/>
                        </a:rPr>
                        <a:t>seti</a:t>
                      </a:r>
                      <a:endParaRPr sz="646" b="1" i="1" dirty="0">
                        <a:solidFill>
                          <a:srgbClr val="1B2A6B"/>
                        </a:solidFill>
                        <a:latin typeface="Microsoft YaHei"/>
                      </a:endParaRPr>
                    </a:p>
                  </a:txBody>
                  <a:tcPr anchor="ctr">
                    <a:solidFill>
                      <a:srgbClr val="E8EDF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3741">
                <a:tc gridSpan="7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 dirty="0" err="1">
                          <a:solidFill>
                            <a:srgbClr val="1B2A6B"/>
                          </a:solidFill>
                          <a:latin typeface="Montserrat"/>
                        </a:rPr>
                        <a:t>Gözetimli</a:t>
                      </a:r>
                      <a:endParaRPr sz="717" b="1" i="0" dirty="0">
                        <a:solidFill>
                          <a:srgbClr val="1B2A6B"/>
                        </a:solidFill>
                        <a:latin typeface="Montserrat"/>
                      </a:endParaRPr>
                    </a:p>
                  </a:txBody>
                  <a:tcPr anchor="ctr"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92.63%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0.9755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0.9768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0.9715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0.9185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B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98.96%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0.9941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0.9798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0.9853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0.9884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 dirty="0" err="1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  <a:endParaRPr sz="785" b="1" i="0" dirty="0">
                        <a:solidFill>
                          <a:srgbClr val="1B2A6B"/>
                        </a:solidFill>
                        <a:latin typeface="Inter 18pt"/>
                      </a:endParaRP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99.73%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0.9976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0.9986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0.9981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0.9970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3741">
                <a:tc gridSpan="7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>
                          <a:solidFill>
                            <a:srgbClr val="1B2A6B"/>
                          </a:solidFill>
                          <a:latin typeface="Montserrat"/>
                        </a:rPr>
                        <a:t>Yarı-Gözetimli</a:t>
                      </a:r>
                    </a:p>
                  </a:txBody>
                  <a:tcPr anchor="ctr"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97.36%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0.9812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0.9874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0.9839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0.9706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B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97.73%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0.9837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0.9863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0.9845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0.9747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83.76%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0.7849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0.8152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0.7833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0.8192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3741">
                <a:tc gridSpan="7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17" b="1" i="0" dirty="0">
                          <a:solidFill>
                            <a:srgbClr val="1B2A6B"/>
                          </a:solidFill>
                          <a:latin typeface="Montserrat"/>
                        </a:rPr>
                        <a:t>Federated (</a:t>
                      </a:r>
                      <a:r>
                        <a:rPr sz="717" b="1" i="0" dirty="0" err="1">
                          <a:solidFill>
                            <a:srgbClr val="1B2A6B"/>
                          </a:solidFill>
                          <a:latin typeface="Montserrat"/>
                        </a:rPr>
                        <a:t>Dağıtık</a:t>
                      </a:r>
                      <a:r>
                        <a:rPr sz="717" b="1" i="0" dirty="0">
                          <a:solidFill>
                            <a:srgbClr val="1B2A6B"/>
                          </a:solidFill>
                          <a:latin typeface="Montserrat"/>
                        </a:rPr>
                        <a:t>)</a:t>
                      </a:r>
                    </a:p>
                  </a:txBody>
                  <a:tcPr anchor="ctr"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99.91%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0.9990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0.9989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0.9989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0.9990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B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99.77%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0.9980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0.9988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0.9984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0.9974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8369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85" b="1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97.71%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0.9884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0.9902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0.9890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0.9746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7" name="TextBox 89">
            <a:extLst>
              <a:ext uri="{FF2B5EF4-FFF2-40B4-BE49-F238E27FC236}">
                <a16:creationId xmlns:a16="http://schemas.microsoft.com/office/drawing/2014/main" id="{E951D1E2-3730-CCED-7226-C94C8CF7A8D3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  <p:sp>
        <p:nvSpPr>
          <p:cNvPr id="24" name="TextBox 44">
            <a:extLst>
              <a:ext uri="{FF2B5EF4-FFF2-40B4-BE49-F238E27FC236}">
                <a16:creationId xmlns:a16="http://schemas.microsoft.com/office/drawing/2014/main" id="{BAFA2BB6-5A38-7AD5-FF81-EE1F447055F3}"/>
              </a:ext>
            </a:extLst>
          </p:cNvPr>
          <p:cNvSpPr txBox="1"/>
          <p:nvPr/>
        </p:nvSpPr>
        <p:spPr>
          <a:xfrm>
            <a:off x="8320143" y="1066253"/>
            <a:ext cx="150223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 err="1">
                <a:solidFill>
                  <a:srgbClr val="4A5572"/>
                </a:solidFill>
                <a:latin typeface="Montserrat"/>
              </a:rPr>
              <a:t>Sınıflandırma</a:t>
            </a:r>
            <a:r>
              <a:rPr sz="900" b="1" i="0" dirty="0">
                <a:solidFill>
                  <a:srgbClr val="4A5572"/>
                </a:solidFill>
                <a:latin typeface="Montserrat"/>
              </a:rPr>
              <a:t> </a:t>
            </a:r>
            <a:r>
              <a:rPr sz="900" b="1" i="0" dirty="0" err="1">
                <a:solidFill>
                  <a:srgbClr val="4A5572"/>
                </a:solidFill>
                <a:latin typeface="Montserrat"/>
              </a:rPr>
              <a:t>Haritaları</a:t>
            </a:r>
            <a:endParaRPr sz="900" b="1" i="0" dirty="0">
              <a:solidFill>
                <a:srgbClr val="4A5572"/>
              </a:solidFill>
              <a:latin typeface="Montserrat"/>
            </a:endParaRPr>
          </a:p>
        </p:txBody>
      </p:sp>
      <p:sp>
        <p:nvSpPr>
          <p:cNvPr id="28" name="TextBox 46">
            <a:extLst>
              <a:ext uri="{FF2B5EF4-FFF2-40B4-BE49-F238E27FC236}">
                <a16:creationId xmlns:a16="http://schemas.microsoft.com/office/drawing/2014/main" id="{F3AFC882-1EBC-EB7C-F09A-533351F0F024}"/>
              </a:ext>
            </a:extLst>
          </p:cNvPr>
          <p:cNvSpPr txBox="1"/>
          <p:nvPr/>
        </p:nvSpPr>
        <p:spPr>
          <a:xfrm>
            <a:off x="6834372" y="3320921"/>
            <a:ext cx="8875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</a:t>
            </a:r>
            <a:r>
              <a:rPr sz="900" b="1" i="0" dirty="0" err="1">
                <a:solidFill>
                  <a:srgbClr val="4A5572"/>
                </a:solidFill>
                <a:latin typeface="Inter 18pt"/>
              </a:rPr>
              <a:t>Gözetimli</a:t>
            </a:r>
            <a:endParaRPr sz="900" b="1" i="0" dirty="0">
              <a:solidFill>
                <a:srgbClr val="4A5572"/>
              </a:solidFill>
              <a:latin typeface="Inter 18pt"/>
            </a:endParaRPr>
          </a:p>
        </p:txBody>
      </p:sp>
      <p:sp>
        <p:nvSpPr>
          <p:cNvPr id="29" name="TextBox 48">
            <a:extLst>
              <a:ext uri="{FF2B5EF4-FFF2-40B4-BE49-F238E27FC236}">
                <a16:creationId xmlns:a16="http://schemas.microsoft.com/office/drawing/2014/main" id="{E7749E94-5E80-2A7C-9A2F-3B0002D6B8A8}"/>
              </a:ext>
            </a:extLst>
          </p:cNvPr>
          <p:cNvSpPr txBox="1"/>
          <p:nvPr/>
        </p:nvSpPr>
        <p:spPr>
          <a:xfrm>
            <a:off x="8610714" y="3320920"/>
            <a:ext cx="103631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</a:t>
            </a:r>
            <a:r>
              <a:rPr sz="900" b="1" i="0" dirty="0" err="1">
                <a:solidFill>
                  <a:srgbClr val="4A5572"/>
                </a:solidFill>
                <a:latin typeface="Inter 18pt"/>
              </a:rPr>
              <a:t>Yarı-Göz</a:t>
            </a:r>
            <a:r>
              <a:rPr lang="tr-TR" sz="900" b="1" dirty="0" err="1">
                <a:solidFill>
                  <a:srgbClr val="4A5572"/>
                </a:solidFill>
                <a:latin typeface="Inter 18pt"/>
              </a:rPr>
              <a:t>etimli</a:t>
            </a:r>
            <a:endParaRPr sz="900" b="1" i="0" dirty="0">
              <a:solidFill>
                <a:srgbClr val="4A5572"/>
              </a:solidFill>
              <a:latin typeface="Inter 18pt"/>
            </a:endParaRPr>
          </a:p>
        </p:txBody>
      </p:sp>
      <p:sp>
        <p:nvSpPr>
          <p:cNvPr id="30" name="TextBox 50">
            <a:extLst>
              <a:ext uri="{FF2B5EF4-FFF2-40B4-BE49-F238E27FC236}">
                <a16:creationId xmlns:a16="http://schemas.microsoft.com/office/drawing/2014/main" id="{B8A18445-F72A-48F6-9E50-73B05B22999C}"/>
              </a:ext>
            </a:extLst>
          </p:cNvPr>
          <p:cNvSpPr txBox="1"/>
          <p:nvPr/>
        </p:nvSpPr>
        <p:spPr>
          <a:xfrm>
            <a:off x="10611803" y="3335693"/>
            <a:ext cx="96437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Federated</a:t>
            </a:r>
          </a:p>
        </p:txBody>
      </p:sp>
      <p:pic>
        <p:nvPicPr>
          <p:cNvPr id="34" name="Resim 33">
            <a:extLst>
              <a:ext uri="{FF2B5EF4-FFF2-40B4-BE49-F238E27FC236}">
                <a16:creationId xmlns:a16="http://schemas.microsoft.com/office/drawing/2014/main" id="{BF7CA4D7-8E4D-0863-81AE-C63763F25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233" y="1545007"/>
            <a:ext cx="1933797" cy="1734323"/>
          </a:xfrm>
          <a:prstGeom prst="rect">
            <a:avLst/>
          </a:prstGeom>
        </p:spPr>
      </p:pic>
      <p:pic>
        <p:nvPicPr>
          <p:cNvPr id="35" name="Resim 34">
            <a:extLst>
              <a:ext uri="{FF2B5EF4-FFF2-40B4-BE49-F238E27FC236}">
                <a16:creationId xmlns:a16="http://schemas.microsoft.com/office/drawing/2014/main" id="{8960AC66-8742-6D62-5C3E-AB33CEC46D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584" y="1530906"/>
            <a:ext cx="1933797" cy="1738745"/>
          </a:xfrm>
          <a:prstGeom prst="rect">
            <a:avLst/>
          </a:prstGeom>
        </p:spPr>
      </p:pic>
      <p:pic>
        <p:nvPicPr>
          <p:cNvPr id="36" name="Resim 35">
            <a:extLst>
              <a:ext uri="{FF2B5EF4-FFF2-40B4-BE49-F238E27FC236}">
                <a16:creationId xmlns:a16="http://schemas.microsoft.com/office/drawing/2014/main" id="{88D96BFC-8774-9036-D489-2C11DC2A8D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4381" y="1530906"/>
            <a:ext cx="1919352" cy="1745883"/>
          </a:xfrm>
          <a:prstGeom prst="rect">
            <a:avLst/>
          </a:prstGeom>
        </p:spPr>
      </p:pic>
      <p:sp>
        <p:nvSpPr>
          <p:cNvPr id="2" name="Rounded Rectangle 13">
            <a:extLst>
              <a:ext uri="{FF2B5EF4-FFF2-40B4-BE49-F238E27FC236}">
                <a16:creationId xmlns:a16="http://schemas.microsoft.com/office/drawing/2014/main" id="{B0C0A2F4-C37F-4842-821C-7A27A18ECF42}"/>
              </a:ext>
            </a:extLst>
          </p:cNvPr>
          <p:cNvSpPr/>
          <p:nvPr/>
        </p:nvSpPr>
        <p:spPr>
          <a:xfrm>
            <a:off x="6475023" y="4109891"/>
            <a:ext cx="4638082" cy="1386185"/>
          </a:xfrm>
          <a:prstGeom prst="roundRect">
            <a:avLst>
              <a:gd name="adj" fmla="val 59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E5325B6E-13D6-3D05-437B-BEA9A26D88D6}"/>
              </a:ext>
            </a:extLst>
          </p:cNvPr>
          <p:cNvSpPr/>
          <p:nvPr/>
        </p:nvSpPr>
        <p:spPr>
          <a:xfrm>
            <a:off x="6475022" y="4109891"/>
            <a:ext cx="53029" cy="1386185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15" descr="image.png">
            <a:extLst>
              <a:ext uri="{FF2B5EF4-FFF2-40B4-BE49-F238E27FC236}">
                <a16:creationId xmlns:a16="http://schemas.microsoft.com/office/drawing/2014/main" id="{36E8766E-B84B-D760-A87B-54D78CA9F5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7231" y="4387782"/>
            <a:ext cx="98976" cy="98976"/>
          </a:xfrm>
          <a:prstGeom prst="rect">
            <a:avLst/>
          </a:prstGeom>
        </p:spPr>
      </p:pic>
      <p:pic>
        <p:nvPicPr>
          <p:cNvPr id="8" name="Picture 16" descr="image.png">
            <a:extLst>
              <a:ext uri="{FF2B5EF4-FFF2-40B4-BE49-F238E27FC236}">
                <a16:creationId xmlns:a16="http://schemas.microsoft.com/office/drawing/2014/main" id="{1F696185-2DB9-089D-0A25-49BC1860FB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7231" y="4739908"/>
            <a:ext cx="98976" cy="98976"/>
          </a:xfrm>
          <a:prstGeom prst="rect">
            <a:avLst/>
          </a:prstGeom>
        </p:spPr>
      </p:pic>
      <p:pic>
        <p:nvPicPr>
          <p:cNvPr id="9" name="Picture 17" descr="image.png">
            <a:extLst>
              <a:ext uri="{FF2B5EF4-FFF2-40B4-BE49-F238E27FC236}">
                <a16:creationId xmlns:a16="http://schemas.microsoft.com/office/drawing/2014/main" id="{92E65C78-34F8-6E8E-F3CA-28A87A1944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27231" y="5111386"/>
            <a:ext cx="98976" cy="98976"/>
          </a:xfrm>
          <a:prstGeom prst="rect">
            <a:avLst/>
          </a:prstGeom>
        </p:spPr>
      </p:pic>
      <p:sp>
        <p:nvSpPr>
          <p:cNvPr id="18" name="TextBox 40">
            <a:extLst>
              <a:ext uri="{FF2B5EF4-FFF2-40B4-BE49-F238E27FC236}">
                <a16:creationId xmlns:a16="http://schemas.microsoft.com/office/drawing/2014/main" id="{5BA8FD21-A6D7-177D-5F47-9F4BFF9004A0}"/>
              </a:ext>
            </a:extLst>
          </p:cNvPr>
          <p:cNvSpPr txBox="1"/>
          <p:nvPr/>
        </p:nvSpPr>
        <p:spPr>
          <a:xfrm>
            <a:off x="6627231" y="4203091"/>
            <a:ext cx="1159414" cy="105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5" b="1" i="0">
                <a:solidFill>
                  <a:srgbClr val="A06C17"/>
                </a:solidFill>
                <a:latin typeface="Montserrat"/>
              </a:rPr>
              <a:t>Temel Gözlemler</a:t>
            </a:r>
          </a:p>
        </p:txBody>
      </p:sp>
      <p:sp>
        <p:nvSpPr>
          <p:cNvPr id="19" name="TextBox 41">
            <a:extLst>
              <a:ext uri="{FF2B5EF4-FFF2-40B4-BE49-F238E27FC236}">
                <a16:creationId xmlns:a16="http://schemas.microsoft.com/office/drawing/2014/main" id="{6429AFE5-2B8A-2F7B-08A2-0396ACDF1ECB}"/>
              </a:ext>
            </a:extLst>
          </p:cNvPr>
          <p:cNvSpPr txBox="1"/>
          <p:nvPr/>
        </p:nvSpPr>
        <p:spPr>
          <a:xfrm>
            <a:off x="6771887" y="4372601"/>
            <a:ext cx="4156055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>
                <a:solidFill>
                  <a:srgbClr val="1E2A40"/>
                </a:solidFill>
                <a:latin typeface="Inter 18pt"/>
              </a:rPr>
              <a:t>Dengeli sınıf yapısı (16 sınıf, 54.129 örnek) azınlık sınıfı sorununu ortadan kaldırmıştır; gözetimli F1 değerleri 0.9715–0.9981 aralığında kalmıştır. ViT Supervised %99.73 OA ile en yüksek gözetimli performansı gösterirken, CNN2D Supervised %92.63 ile görece daha düşük kalmıştır.</a:t>
            </a:r>
          </a:p>
        </p:txBody>
      </p:sp>
      <p:sp>
        <p:nvSpPr>
          <p:cNvPr id="20" name="TextBox 42">
            <a:extLst>
              <a:ext uri="{FF2B5EF4-FFF2-40B4-BE49-F238E27FC236}">
                <a16:creationId xmlns:a16="http://schemas.microsoft.com/office/drawing/2014/main" id="{3B2E1739-EE60-FA39-9674-24DD5B2991FF}"/>
              </a:ext>
            </a:extLst>
          </p:cNvPr>
          <p:cNvSpPr txBox="1"/>
          <p:nvPr/>
        </p:nvSpPr>
        <p:spPr>
          <a:xfrm>
            <a:off x="6771888" y="4724727"/>
            <a:ext cx="4068124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 err="1">
                <a:solidFill>
                  <a:srgbClr val="1E2A40"/>
                </a:solidFill>
                <a:latin typeface="Inter 18pt"/>
              </a:rPr>
              <a:t>CNN2D semi-supervised %97.36 OA ile gözetimliyi (%92.63) 4.73 puan geçmiştir — dengeli sınıf dağılımı sözde etiket güvenilirliğini artırarak müfredat öğrenmesini en çok Salinas veri setinde desteklemiştir. Semi-supervised ort. %92.95 OA, gözetimliyle fark sadece 4.16 puandır.</a:t>
            </a:r>
            <a:endParaRPr sz="724" b="0" i="0" dirty="0">
              <a:solidFill>
                <a:srgbClr val="1E2A40"/>
              </a:solidFill>
              <a:latin typeface="Inter 18pt"/>
            </a:endParaRPr>
          </a:p>
        </p:txBody>
      </p:sp>
      <p:sp>
        <p:nvSpPr>
          <p:cNvPr id="31" name="TextBox 43">
            <a:extLst>
              <a:ext uri="{FF2B5EF4-FFF2-40B4-BE49-F238E27FC236}">
                <a16:creationId xmlns:a16="http://schemas.microsoft.com/office/drawing/2014/main" id="{05984457-0C28-3100-B278-83B6D388B47D}"/>
              </a:ext>
            </a:extLst>
          </p:cNvPr>
          <p:cNvSpPr txBox="1"/>
          <p:nvPr/>
        </p:nvSpPr>
        <p:spPr>
          <a:xfrm>
            <a:off x="6771888" y="5096205"/>
            <a:ext cx="3941821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 err="1">
                <a:solidFill>
                  <a:srgbClr val="1E2A40"/>
                </a:solidFill>
                <a:latin typeface="Inter 18pt"/>
              </a:rPr>
              <a:t>CNN2D Federated %99.91 OA — 3 veri setinin tamamındaki en yüksek bireysel sonuçtur ve gözetimliyi +7.28 puan geçmiştir. Federated ort. OA=%99.13, gözetimli temeline göre +2.02 puan fazla; Salinas federated öğrenme için en ideal veri setidir.</a:t>
            </a:r>
            <a:endParaRPr sz="724" b="0" i="0" dirty="0">
              <a:solidFill>
                <a:srgbClr val="1E2A40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4792" y="211330"/>
            <a:ext cx="5324788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Sonuçlar — Pavia University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4792" y="706171"/>
            <a:ext cx="11555768" cy="4144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0D1B4B"/>
                </a:solidFill>
                <a:latin typeface="Inter 18pt"/>
              </a:rPr>
              <a:t>Yalnızca 9 sınıflı Pavia University'nin kentsel sahnesi, spektral-uzamsal modellerin yapısal olarak farklı bir arazi örtüsü alanına etkin aktarılıp aktarılmadığını test eder.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703" y="1367279"/>
            <a:ext cx="1118296" cy="194305"/>
          </a:xfrm>
          <a:prstGeom prst="rect">
            <a:avLst/>
          </a:prstGeom>
          <a:solidFill>
            <a:srgbClr val="00C2E0"/>
          </a:solidFill>
        </p:spPr>
        <p:txBody>
          <a:bodyPr wrap="none" lIns="99057" tIns="30479" rIns="99057" bIns="30479">
            <a:spAutoFit/>
          </a:bodyPr>
          <a:lstStyle/>
          <a:p>
            <a:pPr algn="l"/>
            <a:r>
              <a:rPr sz="759" b="1" i="0">
                <a:solidFill>
                  <a:srgbClr val="1E2A40"/>
                </a:solidFill>
                <a:latin typeface="Montserrat"/>
              </a:rPr>
              <a:t>Pavia University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14288" y="1397758"/>
            <a:ext cx="4765803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07" b="0" i="0">
                <a:solidFill>
                  <a:srgbClr val="525D78"/>
                </a:solidFill>
                <a:latin typeface="Microsoft YaHei"/>
              </a:rPr>
              <a:t>ROSIS sensörü · 610×340 piksel · 103 bant · 9 kentsel sınıf · 42.776 etiketli örnek · 1,3 m/piksel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1529" y="4150414"/>
            <a:ext cx="584135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1769628" y="6669267"/>
            <a:ext cx="117273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525D78"/>
                </a:solidFill>
                <a:latin typeface="Inter 18pt"/>
              </a:rPr>
              <a:t>15</a:t>
            </a:r>
          </a:p>
        </p:txBody>
      </p:sp>
      <p:sp>
        <p:nvSpPr>
          <p:cNvPr id="54" name="TextBox 89">
            <a:extLst>
              <a:ext uri="{FF2B5EF4-FFF2-40B4-BE49-F238E27FC236}">
                <a16:creationId xmlns:a16="http://schemas.microsoft.com/office/drawing/2014/main" id="{5F68BE1C-4CF4-F8AD-06F8-40CB94BF6D2F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  <p:graphicFrame>
        <p:nvGraphicFramePr>
          <p:cNvPr id="19" name="Table 53">
            <a:extLst>
              <a:ext uri="{FF2B5EF4-FFF2-40B4-BE49-F238E27FC236}">
                <a16:creationId xmlns:a16="http://schemas.microsoft.com/office/drawing/2014/main" id="{725F7620-6E7C-A26F-5260-39DD659CD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112698"/>
              </p:ext>
            </p:extLst>
          </p:nvPr>
        </p:nvGraphicFramePr>
        <p:xfrm>
          <a:off x="299844" y="1675662"/>
          <a:ext cx="5532828" cy="38150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922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21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21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1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21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3581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Paradigma / Mimari</a:t>
                      </a:r>
                    </a:p>
                  </a:txBody>
                  <a:tcPr anchor="ctr"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lang="tr-TR" sz="763" b="1" i="0" dirty="0">
                          <a:solidFill>
                            <a:srgbClr val="FFFFFF"/>
                          </a:solidFill>
                          <a:latin typeface="Inter 18pt"/>
                        </a:rPr>
                        <a:t>OA</a:t>
                      </a:r>
                      <a:r>
                        <a:rPr sz="763" b="1" i="0" dirty="0">
                          <a:solidFill>
                            <a:srgbClr val="FFFFFF"/>
                          </a:solidFill>
                          <a:latin typeface="Inter 18pt"/>
                        </a:rPr>
                        <a:t> (%)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Kesinlik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Geri Çağırma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F1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63" b="1" i="0">
                          <a:solidFill>
                            <a:srgbClr val="FFFFFF"/>
                          </a:solidFill>
                          <a:latin typeface="Inter 18pt"/>
                        </a:rPr>
                        <a:t>Kappa</a:t>
                      </a:r>
                    </a:p>
                  </a:txBody>
                  <a:tcPr anchor="ctr">
                    <a:solidFill>
                      <a:srgbClr val="1B2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72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20" b="1" i="0" dirty="0" err="1">
                          <a:solidFill>
                            <a:srgbClr val="1B2A6B"/>
                          </a:solidFill>
                          <a:latin typeface="Inter 18pt"/>
                        </a:rPr>
                        <a:t>Gözetimli</a:t>
                      </a:r>
                      <a:endParaRPr sz="720" b="1" i="0" dirty="0">
                        <a:solidFill>
                          <a:srgbClr val="1B2A6B"/>
                        </a:solidFill>
                        <a:latin typeface="Inter 18pt"/>
                      </a:endParaRPr>
                    </a:p>
                  </a:txBody>
                  <a:tcPr anchor="ctr"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99.99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99.97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99.98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99.98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99.98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0" dirty="0">
                          <a:solidFill>
                            <a:srgbClr val="065F46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100.00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100.00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100.00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100.00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1" i="1">
                          <a:solidFill>
                            <a:srgbClr val="065F46"/>
                          </a:solidFill>
                          <a:latin typeface="Inter 18pt"/>
                        </a:rPr>
                        <a:t>100.00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99.96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99.94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99.93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99.94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99.94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72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20" b="1" i="0" dirty="0" err="1">
                          <a:solidFill>
                            <a:srgbClr val="1B2A6B"/>
                          </a:solidFill>
                          <a:latin typeface="Inter 18pt"/>
                        </a:rPr>
                        <a:t>Yarı-Gözetimli</a:t>
                      </a:r>
                      <a:endParaRPr sz="720" b="1" i="0" dirty="0">
                        <a:solidFill>
                          <a:srgbClr val="1B2A6B"/>
                        </a:solidFill>
                        <a:latin typeface="Inter 18pt"/>
                      </a:endParaRP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97.37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96.63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94.21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95.10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96.51</a:t>
                      </a:r>
                    </a:p>
                  </a:txBody>
                  <a:tcPr anchor="ctr"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97.02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97.52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93.82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95.40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96.03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91.51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93.86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80.68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82.08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88.55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7725"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720" b="1" i="0" dirty="0">
                          <a:solidFill>
                            <a:srgbClr val="1B2A6B"/>
                          </a:solidFill>
                          <a:latin typeface="Inter 18pt"/>
                        </a:rPr>
                        <a:t>Federated (</a:t>
                      </a:r>
                      <a:r>
                        <a:rPr sz="720" b="1" i="0" dirty="0" err="1">
                          <a:solidFill>
                            <a:srgbClr val="1B2A6B"/>
                          </a:solidFill>
                          <a:latin typeface="Inter 18pt"/>
                        </a:rPr>
                        <a:t>Dağıtık</a:t>
                      </a:r>
                      <a:r>
                        <a:rPr sz="720" b="1" i="0" dirty="0">
                          <a:solidFill>
                            <a:srgbClr val="1B2A6B"/>
                          </a:solidFill>
                          <a:latin typeface="Inter 18pt"/>
                        </a:rPr>
                        <a:t>)</a:t>
                      </a:r>
                    </a:p>
                  </a:txBody>
                  <a:tcPr anchor="ctr">
                    <a:solidFill>
                      <a:srgbClr val="D0D9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2D CNN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99.84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99.81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99.70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99.76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99.79</a:t>
                      </a:r>
                    </a:p>
                  </a:txBody>
                  <a:tcPr anchor="ctr">
                    <a:lnT w="9525" cmpd="sng">
                      <a:solidFill>
                        <a:srgbClr val="C8D3E8"/>
                      </a:solidFill>
                    </a:lnT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3D CNN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99.78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99.54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99.72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99.63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99.71</a:t>
                      </a:r>
                    </a:p>
                  </a:txBody>
                  <a:tcPr anchor="ctr">
                    <a:lnT w="9525" cap="flat" cmpd="sng" algn="ctr">
                      <a:solidFill>
                        <a:srgbClr val="C8D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E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7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0">
                          <a:solidFill>
                            <a:srgbClr val="1B2A6B"/>
                          </a:solidFill>
                          <a:latin typeface="Inter 18pt"/>
                        </a:rPr>
                        <a:t>ViT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99.00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98.92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97.71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>
                          <a:solidFill>
                            <a:srgbClr val="1E2A40"/>
                          </a:solidFill>
                          <a:latin typeface="Inter 18pt"/>
                        </a:rPr>
                        <a:t>98.26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</a:pPr>
                      <a:r>
                        <a:rPr sz="1000" b="0" i="1" dirty="0">
                          <a:solidFill>
                            <a:srgbClr val="1E2A40"/>
                          </a:solidFill>
                          <a:latin typeface="Inter 18pt"/>
                        </a:rPr>
                        <a:t>98.67</a:t>
                      </a:r>
                    </a:p>
                  </a:txBody>
                  <a:tcPr anchor="ctr">
                    <a:lnB w="9525" cmpd="sng">
                      <a:solidFill>
                        <a:srgbClr val="C8D3E8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" name="TextBox 44">
            <a:extLst>
              <a:ext uri="{FF2B5EF4-FFF2-40B4-BE49-F238E27FC236}">
                <a16:creationId xmlns:a16="http://schemas.microsoft.com/office/drawing/2014/main" id="{05FC53EF-8B92-81F2-3D53-2550E9EF2F59}"/>
              </a:ext>
            </a:extLst>
          </p:cNvPr>
          <p:cNvSpPr txBox="1"/>
          <p:nvPr/>
        </p:nvSpPr>
        <p:spPr>
          <a:xfrm>
            <a:off x="8320143" y="1066253"/>
            <a:ext cx="150223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 err="1">
                <a:solidFill>
                  <a:srgbClr val="4A5572"/>
                </a:solidFill>
                <a:latin typeface="Montserrat"/>
              </a:rPr>
              <a:t>Sınıflandırma</a:t>
            </a:r>
            <a:r>
              <a:rPr sz="900" b="1" i="0" dirty="0">
                <a:solidFill>
                  <a:srgbClr val="4A5572"/>
                </a:solidFill>
                <a:latin typeface="Montserrat"/>
              </a:rPr>
              <a:t> </a:t>
            </a:r>
            <a:r>
              <a:rPr sz="900" b="1" i="0" dirty="0" err="1">
                <a:solidFill>
                  <a:srgbClr val="4A5572"/>
                </a:solidFill>
                <a:latin typeface="Montserrat"/>
              </a:rPr>
              <a:t>Haritaları</a:t>
            </a:r>
            <a:endParaRPr sz="900" b="1" i="0" dirty="0">
              <a:solidFill>
                <a:srgbClr val="4A5572"/>
              </a:solidFill>
              <a:latin typeface="Montserrat"/>
            </a:endParaRPr>
          </a:p>
        </p:txBody>
      </p:sp>
      <p:sp>
        <p:nvSpPr>
          <p:cNvPr id="4" name="TextBox 46">
            <a:extLst>
              <a:ext uri="{FF2B5EF4-FFF2-40B4-BE49-F238E27FC236}">
                <a16:creationId xmlns:a16="http://schemas.microsoft.com/office/drawing/2014/main" id="{92FFF4F7-EB61-D554-4C49-F00B255CFDED}"/>
              </a:ext>
            </a:extLst>
          </p:cNvPr>
          <p:cNvSpPr txBox="1"/>
          <p:nvPr/>
        </p:nvSpPr>
        <p:spPr>
          <a:xfrm>
            <a:off x="6834372" y="3320921"/>
            <a:ext cx="8875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</a:t>
            </a:r>
            <a:r>
              <a:rPr sz="900" b="1" i="0" dirty="0" err="1">
                <a:solidFill>
                  <a:srgbClr val="4A5572"/>
                </a:solidFill>
                <a:latin typeface="Inter 18pt"/>
              </a:rPr>
              <a:t>Gözetimli</a:t>
            </a:r>
            <a:endParaRPr sz="900" b="1" i="0" dirty="0">
              <a:solidFill>
                <a:srgbClr val="4A5572"/>
              </a:solidFill>
              <a:latin typeface="Inter 18pt"/>
            </a:endParaRPr>
          </a:p>
        </p:txBody>
      </p:sp>
      <p:sp>
        <p:nvSpPr>
          <p:cNvPr id="5" name="TextBox 48">
            <a:extLst>
              <a:ext uri="{FF2B5EF4-FFF2-40B4-BE49-F238E27FC236}">
                <a16:creationId xmlns:a16="http://schemas.microsoft.com/office/drawing/2014/main" id="{EAAA8ECC-620D-17F1-A2B8-5615E2F48593}"/>
              </a:ext>
            </a:extLst>
          </p:cNvPr>
          <p:cNvSpPr txBox="1"/>
          <p:nvPr/>
        </p:nvSpPr>
        <p:spPr>
          <a:xfrm>
            <a:off x="8610714" y="3320920"/>
            <a:ext cx="1036313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</a:t>
            </a:r>
            <a:r>
              <a:rPr sz="900" b="1" i="0" dirty="0" err="1">
                <a:solidFill>
                  <a:srgbClr val="4A5572"/>
                </a:solidFill>
                <a:latin typeface="Inter 18pt"/>
              </a:rPr>
              <a:t>Yarı-Göz</a:t>
            </a:r>
            <a:r>
              <a:rPr lang="tr-TR" sz="900" b="1" dirty="0" err="1">
                <a:solidFill>
                  <a:srgbClr val="4A5572"/>
                </a:solidFill>
                <a:latin typeface="Inter 18pt"/>
              </a:rPr>
              <a:t>etimli</a:t>
            </a:r>
            <a:endParaRPr sz="900" b="1" i="0" dirty="0">
              <a:solidFill>
                <a:srgbClr val="4A5572"/>
              </a:solidFill>
              <a:latin typeface="Inter 18pt"/>
            </a:endParaRPr>
          </a:p>
        </p:txBody>
      </p:sp>
      <p:sp>
        <p:nvSpPr>
          <p:cNvPr id="6" name="TextBox 50">
            <a:extLst>
              <a:ext uri="{FF2B5EF4-FFF2-40B4-BE49-F238E27FC236}">
                <a16:creationId xmlns:a16="http://schemas.microsoft.com/office/drawing/2014/main" id="{ECC4FF6A-098D-AD4F-F000-7C21DE875D5C}"/>
              </a:ext>
            </a:extLst>
          </p:cNvPr>
          <p:cNvSpPr txBox="1"/>
          <p:nvPr/>
        </p:nvSpPr>
        <p:spPr>
          <a:xfrm>
            <a:off x="10611803" y="3335693"/>
            <a:ext cx="96437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 dirty="0">
                <a:solidFill>
                  <a:srgbClr val="4A5572"/>
                </a:solidFill>
                <a:latin typeface="Inter 18pt"/>
              </a:rPr>
              <a:t>En İyi Federated</a:t>
            </a: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667B789B-5EFE-B78E-21F8-D3F3E6157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2802" y="1558496"/>
            <a:ext cx="1940830" cy="1728289"/>
          </a:xfrm>
          <a:prstGeom prst="rect">
            <a:avLst/>
          </a:prstGeom>
        </p:spPr>
      </p:pic>
      <p:pic>
        <p:nvPicPr>
          <p:cNvPr id="17" name="Resim 16">
            <a:extLst>
              <a:ext uri="{FF2B5EF4-FFF2-40B4-BE49-F238E27FC236}">
                <a16:creationId xmlns:a16="http://schemas.microsoft.com/office/drawing/2014/main" id="{E52454F0-CA5F-4F2A-7803-2382614CE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3632" y="1543844"/>
            <a:ext cx="1935344" cy="1742941"/>
          </a:xfrm>
          <a:prstGeom prst="rect">
            <a:avLst/>
          </a:prstGeom>
        </p:spPr>
      </p:pic>
      <p:pic>
        <p:nvPicPr>
          <p:cNvPr id="18" name="Resim 17">
            <a:extLst>
              <a:ext uri="{FF2B5EF4-FFF2-40B4-BE49-F238E27FC236}">
                <a16:creationId xmlns:a16="http://schemas.microsoft.com/office/drawing/2014/main" id="{B513AAA6-C795-F028-2D48-650B3E28B0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8975" y="1543844"/>
            <a:ext cx="1946661" cy="1742941"/>
          </a:xfrm>
          <a:prstGeom prst="rect">
            <a:avLst/>
          </a:prstGeom>
        </p:spPr>
      </p:pic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23C733EA-F12A-93E0-4760-8A89D44C7230}"/>
              </a:ext>
            </a:extLst>
          </p:cNvPr>
          <p:cNvSpPr/>
          <p:nvPr/>
        </p:nvSpPr>
        <p:spPr>
          <a:xfrm>
            <a:off x="6167751" y="4264414"/>
            <a:ext cx="4567981" cy="1381643"/>
          </a:xfrm>
          <a:prstGeom prst="roundRect">
            <a:avLst>
              <a:gd name="adj" fmla="val 595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14">
            <a:extLst>
              <a:ext uri="{FF2B5EF4-FFF2-40B4-BE49-F238E27FC236}">
                <a16:creationId xmlns:a16="http://schemas.microsoft.com/office/drawing/2014/main" id="{5D29231F-7B4B-B273-C67E-71CF99FBBFFD}"/>
              </a:ext>
            </a:extLst>
          </p:cNvPr>
          <p:cNvSpPr/>
          <p:nvPr/>
        </p:nvSpPr>
        <p:spPr>
          <a:xfrm>
            <a:off x="6167752" y="4264414"/>
            <a:ext cx="52228" cy="1381643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15" descr="image.png">
            <a:extLst>
              <a:ext uri="{FF2B5EF4-FFF2-40B4-BE49-F238E27FC236}">
                <a16:creationId xmlns:a16="http://schemas.microsoft.com/office/drawing/2014/main" id="{971B60A1-C1A7-48F6-DAB5-5FF1582735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960" y="4542305"/>
            <a:ext cx="98652" cy="98652"/>
          </a:xfrm>
          <a:prstGeom prst="rect">
            <a:avLst/>
          </a:prstGeom>
        </p:spPr>
      </p:pic>
      <p:pic>
        <p:nvPicPr>
          <p:cNvPr id="20" name="Picture 16" descr="image.png">
            <a:extLst>
              <a:ext uri="{FF2B5EF4-FFF2-40B4-BE49-F238E27FC236}">
                <a16:creationId xmlns:a16="http://schemas.microsoft.com/office/drawing/2014/main" id="{C563E19A-B9E5-9289-E450-AD41993E8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960" y="4894431"/>
            <a:ext cx="98652" cy="98652"/>
          </a:xfrm>
          <a:prstGeom prst="rect">
            <a:avLst/>
          </a:prstGeom>
        </p:spPr>
      </p:pic>
      <p:pic>
        <p:nvPicPr>
          <p:cNvPr id="28" name="Picture 17" descr="image.png">
            <a:extLst>
              <a:ext uri="{FF2B5EF4-FFF2-40B4-BE49-F238E27FC236}">
                <a16:creationId xmlns:a16="http://schemas.microsoft.com/office/drawing/2014/main" id="{AE5EFC9B-4D99-A3E6-57D0-FC145F18B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9960" y="5270747"/>
            <a:ext cx="98652" cy="98652"/>
          </a:xfrm>
          <a:prstGeom prst="rect">
            <a:avLst/>
          </a:prstGeom>
        </p:spPr>
      </p:pic>
      <p:sp>
        <p:nvSpPr>
          <p:cNvPr id="29" name="TextBox 40">
            <a:extLst>
              <a:ext uri="{FF2B5EF4-FFF2-40B4-BE49-F238E27FC236}">
                <a16:creationId xmlns:a16="http://schemas.microsoft.com/office/drawing/2014/main" id="{8D20CE5D-32FF-C3E9-A62F-CCE2CB0F1578}"/>
              </a:ext>
            </a:extLst>
          </p:cNvPr>
          <p:cNvSpPr txBox="1"/>
          <p:nvPr/>
        </p:nvSpPr>
        <p:spPr>
          <a:xfrm>
            <a:off x="6319960" y="4357614"/>
            <a:ext cx="1141890" cy="1054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85" b="1" i="0">
                <a:solidFill>
                  <a:srgbClr val="A06C17"/>
                </a:solidFill>
                <a:latin typeface="Montserrat"/>
              </a:rPr>
              <a:t>Temel Gözlemler</a:t>
            </a:r>
          </a:p>
        </p:txBody>
      </p:sp>
      <p:sp>
        <p:nvSpPr>
          <p:cNvPr id="30" name="TextBox 41">
            <a:extLst>
              <a:ext uri="{FF2B5EF4-FFF2-40B4-BE49-F238E27FC236}">
                <a16:creationId xmlns:a16="http://schemas.microsoft.com/office/drawing/2014/main" id="{10247D5B-3009-D702-5EA3-21889C369051}"/>
              </a:ext>
            </a:extLst>
          </p:cNvPr>
          <p:cNvSpPr txBox="1"/>
          <p:nvPr/>
        </p:nvSpPr>
        <p:spPr>
          <a:xfrm>
            <a:off x="6464617" y="4527124"/>
            <a:ext cx="4093240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>
                <a:solidFill>
                  <a:srgbClr val="1E2A40"/>
                </a:solidFill>
                <a:latin typeface="Inter 18pt"/>
              </a:rPr>
              <a:t>9 dengeli kentsel sınıf tüm paradigmaların yüksek doğruluk üretmesini sağlamıştır. CNN3D Supervised %100.00 OA, Kappa=1.0000 ile mükemmel sınıflandırma elde etmiş; gözetimli ort. %99.98 OA, 3 veri setinin en yüksek gözetimli ortalamasıdır. Düşük sınıf sayısı sınıf karışıklığını minimuma indirmiştir.</a:t>
            </a:r>
          </a:p>
        </p:txBody>
      </p:sp>
      <p:sp>
        <p:nvSpPr>
          <p:cNvPr id="31" name="TextBox 42">
            <a:extLst>
              <a:ext uri="{FF2B5EF4-FFF2-40B4-BE49-F238E27FC236}">
                <a16:creationId xmlns:a16="http://schemas.microsoft.com/office/drawing/2014/main" id="{80F42E3E-B013-62D4-7676-693BC58AE901}"/>
              </a:ext>
            </a:extLst>
          </p:cNvPr>
          <p:cNvSpPr txBox="1"/>
          <p:nvPr/>
        </p:nvSpPr>
        <p:spPr>
          <a:xfrm>
            <a:off x="6464617" y="4879250"/>
            <a:ext cx="4006638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 err="1">
                <a:solidFill>
                  <a:srgbClr val="1E2A40"/>
                </a:solidFill>
                <a:latin typeface="Inter 18pt"/>
              </a:rPr>
              <a:t>Semi-supervised ort. OA=%95.30 — gözetimliyle yalnızca 4.68 puan fark. 9 dengeli sınıf sözde etiket güvenilirliğini artırmıştır. ViT semi-supervised %91.51 OA ile hâlâ en zayıf halka olmaya devam etmektedir; CNN2D ve CNN3D semi-supervised ise sırasıyla %97.37 ve %97.02 OA elde etmiştir.</a:t>
            </a:r>
            <a:endParaRPr sz="724" b="0" i="0" dirty="0">
              <a:solidFill>
                <a:srgbClr val="1E2A40"/>
              </a:solidFill>
              <a:latin typeface="Inter 18pt"/>
            </a:endParaRPr>
          </a:p>
        </p:txBody>
      </p:sp>
      <p:sp>
        <p:nvSpPr>
          <p:cNvPr id="32" name="TextBox 43">
            <a:extLst>
              <a:ext uri="{FF2B5EF4-FFF2-40B4-BE49-F238E27FC236}">
                <a16:creationId xmlns:a16="http://schemas.microsoft.com/office/drawing/2014/main" id="{5BE41885-CC71-7AF1-DAAE-EB57DD1EDA30}"/>
              </a:ext>
            </a:extLst>
          </p:cNvPr>
          <p:cNvSpPr txBox="1"/>
          <p:nvPr/>
        </p:nvSpPr>
        <p:spPr>
          <a:xfrm>
            <a:off x="6464617" y="5255566"/>
            <a:ext cx="3882243" cy="33432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24" b="0" i="0" dirty="0" err="1">
                <a:solidFill>
                  <a:srgbClr val="1E2A40"/>
                </a:solidFill>
                <a:latin typeface="Inter 18pt"/>
              </a:rPr>
              <a:t>Federated ort. OA=%99.54 — gözetimli temele göre yalnızca 0.44 puan geride. CNN2D Federated %99.84, gözetimli CNN2D'yi (%99.99) yalnızca 0.15 puan geride bırakmıştır. Pavia, 3 veri seti içinde federated öğrenmenin en az ödünleşim gerektirdiği veri setidir.</a:t>
            </a:r>
            <a:endParaRPr sz="724" b="0" i="0" dirty="0">
              <a:solidFill>
                <a:srgbClr val="1E2A40"/>
              </a:solidFill>
              <a:latin typeface="Inter 18p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5160" y="3316337"/>
            <a:ext cx="457200" cy="28575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579" y="3772152"/>
            <a:ext cx="118700" cy="11510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152" y="4169654"/>
            <a:ext cx="129477" cy="11509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135" y="4588734"/>
            <a:ext cx="129494" cy="719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152" y="5233646"/>
            <a:ext cx="129477" cy="1035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35160" y="5710180"/>
            <a:ext cx="4511129" cy="506313"/>
          </a:xfrm>
          <a:prstGeom prst="roundRect">
            <a:avLst>
              <a:gd name="adj" fmla="val 7524"/>
            </a:avLst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35160" y="5710180"/>
            <a:ext cx="50800" cy="506313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580" y="0"/>
            <a:ext cx="7071270" cy="6858000"/>
          </a:xfrm>
          <a:prstGeom prst="rect">
            <a:avLst/>
          </a:prstGeom>
          <a:solidFill>
            <a:srgbClr val="E8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364360" y="546645"/>
            <a:ext cx="6553200" cy="536971"/>
          </a:xfrm>
          <a:prstGeom prst="roundRect">
            <a:avLst>
              <a:gd name="adj" fmla="val 14190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6147" y="741796"/>
            <a:ext cx="167576" cy="14662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40660" y="1681311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45660" y="1681311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50660" y="1681311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40660" y="1944141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45660" y="1944141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050660" y="1944141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40660" y="2206972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45660" y="2206972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050660" y="2206972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40660" y="2528887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45660" y="2528887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050660" y="2528887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40660" y="2909887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145660" y="2909887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050660" y="2909887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40660" y="3231802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C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8145660" y="3231802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DB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0050660" y="3231802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40660" y="3494633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145660" y="3494633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050660" y="3494633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40660" y="3757463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45660" y="3757463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0050660" y="3757463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240660" y="4020294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FEF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45660" y="4020294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86EF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10050660" y="4020294"/>
            <a:ext cx="1866899" cy="224730"/>
          </a:xfrm>
          <a:prstGeom prst="roundRect">
            <a:avLst>
              <a:gd name="adj" fmla="val 16953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35152" y="1240749"/>
            <a:ext cx="3140046" cy="8682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Veri Setleri Arası Karşılaştırma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152" y="2196201"/>
            <a:ext cx="4366656" cy="92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26" b="0" i="0">
                <a:solidFill>
                  <a:srgbClr val="0D1B4B"/>
                </a:solidFill>
                <a:latin typeface="Inter 18pt"/>
              </a:rPr>
              <a:t>Tüm 27 model ve 3 veri seti genelinde sonuçların toplanması, sahne türünden bağımsız olarak hangi mimarinin ve eğitim paradigmasının tutarlı biçimde güçlü olduğunu ortaya koyar.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152" y="3512404"/>
            <a:ext cx="1275127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2" b="1" i="0">
                <a:solidFill>
                  <a:srgbClr val="1B2A6B"/>
                </a:solidFill>
                <a:latin typeface="Montserrat"/>
              </a:rPr>
              <a:t>Temel Bulgular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417" y="3740998"/>
            <a:ext cx="3326232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1B2A6B"/>
                </a:solidFill>
                <a:latin typeface="Inter 18pt"/>
              </a:rPr>
              <a:t>En iyi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genel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mimari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: 2D CNN (27 model ort. OA: %95.40)</a:t>
            </a:r>
            <a:r>
              <a:rPr sz="869" b="0" i="1" dirty="0">
                <a:solidFill>
                  <a:srgbClr val="5E6C88"/>
                </a:solidFill>
                <a:highlight>
                  <a:srgbClr val="E8EDF8"/>
                </a:highlight>
                <a:latin typeface="Inter 18pt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417" y="4126624"/>
            <a:ext cx="3050515" cy="1692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1B2A6B"/>
                </a:solidFill>
                <a:latin typeface="Inter 18pt"/>
              </a:rPr>
              <a:t>En iyi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genel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paradigma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: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Gözetimli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(%98.97 ort. OA)</a:t>
            </a:r>
            <a:r>
              <a:rPr sz="869" b="0" i="1" dirty="0">
                <a:solidFill>
                  <a:srgbClr val="5E6C88"/>
                </a:solidFill>
                <a:highlight>
                  <a:srgbClr val="E8EDF8"/>
                </a:highlight>
                <a:latin typeface="Inter 18pt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417" y="4543592"/>
            <a:ext cx="4130472" cy="507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1B2A6B"/>
                </a:solidFill>
                <a:latin typeface="Inter 18pt"/>
              </a:rPr>
              <a:t>Yarı-gözetimli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öğrenmenin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en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büyük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kazanç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sağladığı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veri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seti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: Salinas — CNN2D semi-supervised (%97.36),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gözetimliyi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(%92.63) 4.73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puan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geride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bırakmıştır</a:t>
            </a:r>
            <a:r>
              <a:rPr sz="869" b="0" i="1" dirty="0">
                <a:solidFill>
                  <a:srgbClr val="5E6C88"/>
                </a:solidFill>
                <a:highlight>
                  <a:srgbClr val="E8EDF8"/>
                </a:highlight>
                <a:latin typeface="Inter 18pt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418" y="5161110"/>
            <a:ext cx="451113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 err="1">
                <a:solidFill>
                  <a:srgbClr val="1B2A6B"/>
                </a:solidFill>
                <a:latin typeface="Inter 18pt"/>
              </a:rPr>
              <a:t>Gözetimli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temele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göre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federated OA delta: Ort. −2.23 </a:t>
            </a:r>
            <a:r>
              <a:rPr sz="1100" b="1" i="0" dirty="0" err="1">
                <a:solidFill>
                  <a:srgbClr val="1B2A6B"/>
                </a:solidFill>
                <a:latin typeface="Inter 18pt"/>
              </a:rPr>
              <a:t>puan</a:t>
            </a:r>
            <a:r>
              <a:rPr sz="1100" b="1" i="0" dirty="0">
                <a:solidFill>
                  <a:srgbClr val="1B2A6B"/>
                </a:solidFill>
                <a:latin typeface="Inter 18pt"/>
              </a:rPr>
              <a:t> (Salinas: +2.02 | Pavia: −0.44 | Indian Pines: −8.26)</a:t>
            </a:r>
            <a:r>
              <a:rPr sz="869" b="0" i="1" dirty="0">
                <a:solidFill>
                  <a:srgbClr val="5E6C88"/>
                </a:solidFill>
                <a:highlight>
                  <a:srgbClr val="E8EDF8"/>
                </a:highlight>
                <a:latin typeface="Inter 18pt"/>
              </a:rPr>
              <a:t>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5138" y="5793838"/>
            <a:ext cx="3804249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B2A6B"/>
                </a:solidFill>
                <a:latin typeface="Inter 18pt"/>
              </a:rPr>
              <a:t>Kappa &gt; 0,85, tüm veri setleri genelinde tesadüfün ötesinde güçlü sınıflandırma uyumunu doğrular.</a:t>
            </a:r>
            <a:r>
              <a:rPr sz="869" b="0" i="0">
                <a:solidFill>
                  <a:srgbClr val="00758F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758F"/>
                </a:solidFill>
                <a:latin typeface="Inter 18pt"/>
                <a:hlinkClick r:id="rId7" tooltip="Hyperspectral Image Classification using Spectr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64226" y="274283"/>
            <a:ext cx="4334510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95" b="1" i="0">
                <a:solidFill>
                  <a:srgbClr val="1B2A6B"/>
                </a:solidFill>
                <a:latin typeface="Microsoft YaHei"/>
              </a:rPr>
              <a:t>Genel Doğruluk (OA) — Paradigma × Mimari × Veri Seti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85102" y="662715"/>
            <a:ext cx="5370923" cy="30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1">
                <a:solidFill>
                  <a:srgbClr val="64718F"/>
                </a:solidFill>
                <a:latin typeface="Microsoft YaHei"/>
              </a:rPr>
              <a:t>Tüm 27 modelin OA değerleri: Gözetimli ort. %98.97 | Federated ort. %96.74 | Yarı-Gözetimli ort. %84.64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64226" y="1220657"/>
            <a:ext cx="4124072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1B2A6B"/>
                </a:solidFill>
                <a:latin typeface="Inter 18pt"/>
              </a:rPr>
              <a:t>Genel Doğruluk (OA) — Renk: yeşil ≥%98 | açık yeşil ≥%94 | sarı ≥%85 | turuncu ≥%70 | kırmızı &lt;%70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4461" y="1441394"/>
            <a:ext cx="655244" cy="194305"/>
          </a:xfrm>
          <a:prstGeom prst="rect">
            <a:avLst/>
          </a:prstGeom>
          <a:solidFill>
            <a:srgbClr val="1B2A6B"/>
          </a:solidFill>
        </p:spPr>
        <p:txBody>
          <a:bodyPr wrap="none" lIns="15239" tIns="30479" rIns="15239" bIns="30479">
            <a:spAutoFit/>
          </a:bodyPr>
          <a:lstStyle/>
          <a:p>
            <a:pPr algn="ctr"/>
            <a:r>
              <a:rPr sz="763" b="1" i="0">
                <a:solidFill>
                  <a:srgbClr val="FFFFFF"/>
                </a:solidFill>
                <a:latin typeface="Inter 18pt"/>
              </a:rPr>
              <a:t>Indian Pines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57968" y="1441394"/>
            <a:ext cx="403433" cy="194305"/>
          </a:xfrm>
          <a:prstGeom prst="rect">
            <a:avLst/>
          </a:prstGeom>
          <a:solidFill>
            <a:srgbClr val="1B2A6B"/>
          </a:solidFill>
        </p:spPr>
        <p:txBody>
          <a:bodyPr wrap="none" lIns="15239" tIns="30479" rIns="15239" bIns="30479">
            <a:spAutoFit/>
          </a:bodyPr>
          <a:lstStyle/>
          <a:p>
            <a:pPr algn="ctr"/>
            <a:r>
              <a:rPr sz="763" b="1" i="0">
                <a:solidFill>
                  <a:srgbClr val="FFFFFF"/>
                </a:solidFill>
                <a:latin typeface="Inter 18pt"/>
              </a:rPr>
              <a:t>Salinas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79133" y="1441394"/>
            <a:ext cx="596309" cy="194305"/>
          </a:xfrm>
          <a:prstGeom prst="rect">
            <a:avLst/>
          </a:prstGeom>
          <a:solidFill>
            <a:srgbClr val="1B2A6B"/>
          </a:solidFill>
        </p:spPr>
        <p:txBody>
          <a:bodyPr wrap="none" lIns="15239" tIns="30479" rIns="15239" bIns="30479">
            <a:spAutoFit/>
          </a:bodyPr>
          <a:lstStyle/>
          <a:p>
            <a:pPr algn="ctr"/>
            <a:r>
              <a:rPr sz="763" b="1" i="0">
                <a:solidFill>
                  <a:srgbClr val="FFFFFF"/>
                </a:solidFill>
                <a:latin typeface="Inter 18pt"/>
              </a:rPr>
              <a:t>Pavia Univ.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05064" y="1688859"/>
            <a:ext cx="797430" cy="209544"/>
          </a:xfrm>
          <a:prstGeom prst="rect">
            <a:avLst/>
          </a:prstGeom>
          <a:solidFill>
            <a:srgbClr val="1B2A6B"/>
          </a:solidFill>
        </p:spPr>
        <p:txBody>
          <a:bodyPr wrap="none" lIns="60958" tIns="38099" rIns="60958" bIns="38099">
            <a:spAutoFit/>
          </a:bodyPr>
          <a:lstStyle/>
          <a:p>
            <a:pPr algn="r"/>
            <a:r>
              <a:rPr sz="763" b="1" i="0" dirty="0" err="1">
                <a:solidFill>
                  <a:srgbClr val="FFFFFF"/>
                </a:solidFill>
                <a:latin typeface="Inter 18pt"/>
              </a:rPr>
              <a:t>Gzt</a:t>
            </a:r>
            <a:r>
              <a:rPr sz="763" b="1" i="0" dirty="0">
                <a:solidFill>
                  <a:srgbClr val="FFFFFF"/>
                </a:solidFill>
                <a:latin typeface="Inter 18pt"/>
              </a:rPr>
              <a:t> / 2D CNN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35961" y="1726958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99.91%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40913" y="1726958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13200"/>
                </a:solidFill>
                <a:latin typeface="Inter 18pt"/>
              </a:rPr>
              <a:t>92.63%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745865" y="1726958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99.99%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3278" y="1951683"/>
            <a:ext cx="799216" cy="209544"/>
          </a:xfrm>
          <a:prstGeom prst="rect">
            <a:avLst/>
          </a:prstGeom>
          <a:solidFill>
            <a:srgbClr val="1B2A6B"/>
          </a:solidFill>
        </p:spPr>
        <p:txBody>
          <a:bodyPr wrap="non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Gzt / 3D CNN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35961" y="1989782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99.90%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40913" y="1989782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98.96%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45865" y="1989782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100.00%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34551" y="2214507"/>
            <a:ext cx="567943" cy="209544"/>
          </a:xfrm>
          <a:prstGeom prst="rect">
            <a:avLst/>
          </a:prstGeom>
          <a:solidFill>
            <a:srgbClr val="1B2A6B"/>
          </a:solidFill>
        </p:spPr>
        <p:txBody>
          <a:bodyPr wrap="non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Gzt / ViT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35961" y="2252606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99.61%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40913" y="2252606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99.73%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745865" y="2252606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99.96%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549572" y="2469740"/>
            <a:ext cx="652922" cy="342891"/>
          </a:xfrm>
          <a:prstGeom prst="rect">
            <a:avLst/>
          </a:prstGeom>
          <a:solidFill>
            <a:srgbClr val="1B2A6B"/>
          </a:solidFill>
        </p:spPr>
        <p:txBody>
          <a:bodyPr wrap="squar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Y-Gzt / 2D CNN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35961" y="2574513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C2D12"/>
                </a:solidFill>
                <a:latin typeface="Inter 18pt"/>
              </a:rPr>
              <a:t>75.18%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40913" y="2574513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Inter 18pt"/>
              </a:rPr>
              <a:t>97.36%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745865" y="2574513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Inter 18pt"/>
              </a:rPr>
              <a:t>97.37%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47786" y="2850731"/>
            <a:ext cx="654708" cy="342891"/>
          </a:xfrm>
          <a:prstGeom prst="rect">
            <a:avLst/>
          </a:prstGeom>
          <a:solidFill>
            <a:srgbClr val="1B2A6B"/>
          </a:solidFill>
        </p:spPr>
        <p:txBody>
          <a:bodyPr wrap="squar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Y-Gzt / 3D CNN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935961" y="2955503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F1D1D"/>
                </a:solidFill>
                <a:latin typeface="Inter 18pt"/>
              </a:rPr>
              <a:t>66.29%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40913" y="2955503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Inter 18pt"/>
              </a:rPr>
              <a:t>97.73%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45865" y="2955503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Inter 18pt"/>
              </a:rPr>
              <a:t>97.02%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15045" y="3239311"/>
            <a:ext cx="687449" cy="209544"/>
          </a:xfrm>
          <a:prstGeom prst="rect">
            <a:avLst/>
          </a:prstGeom>
          <a:solidFill>
            <a:srgbClr val="1B2A6B"/>
          </a:solidFill>
        </p:spPr>
        <p:txBody>
          <a:bodyPr wrap="non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Y-Gzt / ViT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35961" y="3277410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F1D1D"/>
                </a:solidFill>
                <a:latin typeface="Inter 18pt"/>
              </a:rPr>
              <a:t>55.50%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40913" y="3277410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C2D12"/>
                </a:solidFill>
                <a:latin typeface="Inter 18pt"/>
              </a:rPr>
              <a:t>83.76%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745865" y="3277410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13200"/>
                </a:solidFill>
                <a:latin typeface="Inter 18pt"/>
              </a:rPr>
              <a:t>91.51%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394646" y="3502135"/>
            <a:ext cx="807848" cy="209544"/>
          </a:xfrm>
          <a:prstGeom prst="rect">
            <a:avLst/>
          </a:prstGeom>
          <a:solidFill>
            <a:srgbClr val="1B2A6B"/>
          </a:solidFill>
        </p:spPr>
        <p:txBody>
          <a:bodyPr wrap="non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Fed / 2D CNN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35961" y="3540234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Inter 18pt"/>
              </a:rPr>
              <a:t>96.43%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40913" y="3540234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99.91%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745865" y="3540234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99.84%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392860" y="3764959"/>
            <a:ext cx="809634" cy="209544"/>
          </a:xfrm>
          <a:prstGeom prst="rect">
            <a:avLst/>
          </a:prstGeom>
          <a:solidFill>
            <a:srgbClr val="1B2A6B"/>
          </a:solidFill>
        </p:spPr>
        <p:txBody>
          <a:bodyPr wrap="non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Fed / 3D CNN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35961" y="3803058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13200"/>
                </a:solidFill>
                <a:latin typeface="Inter 18pt"/>
              </a:rPr>
              <a:t>92.56%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40913" y="3803058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99.77%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45865" y="3803058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99.78%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24133" y="4027783"/>
            <a:ext cx="578361" cy="209544"/>
          </a:xfrm>
          <a:prstGeom prst="rect">
            <a:avLst/>
          </a:prstGeom>
          <a:solidFill>
            <a:srgbClr val="1B2A6B"/>
          </a:solidFill>
        </p:spPr>
        <p:txBody>
          <a:bodyPr wrap="none" lIns="60958" tIns="38099" rIns="60958" bIns="38099">
            <a:spAutoFit/>
          </a:bodyPr>
          <a:lstStyle/>
          <a:p>
            <a:pPr algn="r"/>
            <a:r>
              <a:rPr sz="763" b="1" i="0">
                <a:solidFill>
                  <a:srgbClr val="FFFFFF"/>
                </a:solidFill>
                <a:latin typeface="Inter 18pt"/>
              </a:rPr>
              <a:t>Fed / ViT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935961" y="4065882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713200"/>
                </a:solidFill>
                <a:latin typeface="Inter 18pt"/>
              </a:rPr>
              <a:t>85.65%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840913" y="4065882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4532D"/>
                </a:solidFill>
                <a:latin typeface="Inter 18pt"/>
              </a:rPr>
              <a:t>97.71%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45865" y="4065882"/>
            <a:ext cx="47579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Inter 18pt"/>
              </a:rPr>
              <a:t>99.00%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364226" y="6532200"/>
            <a:ext cx="3212970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46B7D"/>
                </a:solidFill>
                <a:latin typeface="Inter 18pt"/>
              </a:rPr>
              <a:t>Kaynak: </a:t>
            </a:r>
            <a:r>
              <a:rPr sz="869" b="0" i="0">
                <a:solidFill>
                  <a:srgbClr val="646B7D"/>
                </a:solidFill>
                <a:latin typeface="Inter 18pt"/>
                <a:hlinkClick r:id="rId7" tooltip="Hyperspectral Image Classification using Spectr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Image Classification using Spectral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736589" y="6631168"/>
            <a:ext cx="11995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A7184"/>
                </a:solidFill>
                <a:latin typeface="Inter 18pt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339780" y="1995487"/>
            <a:ext cx="5577929" cy="738931"/>
          </a:xfrm>
          <a:prstGeom prst="roundRect">
            <a:avLst>
              <a:gd name="adj" fmla="val 103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339780" y="1995487"/>
            <a:ext cx="50800" cy="738931"/>
          </a:xfrm>
          <a:prstGeom prst="rect">
            <a:avLst/>
          </a:prstGeom>
          <a:solidFill>
            <a:srgbClr val="1B2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39780" y="2818209"/>
            <a:ext cx="5577929" cy="926603"/>
          </a:xfrm>
          <a:prstGeom prst="roundRect">
            <a:avLst>
              <a:gd name="adj" fmla="val 822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339780" y="2818209"/>
            <a:ext cx="50800" cy="926603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39780" y="3828603"/>
            <a:ext cx="5577929" cy="738931"/>
          </a:xfrm>
          <a:prstGeom prst="roundRect">
            <a:avLst>
              <a:gd name="adj" fmla="val 103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39780" y="3828603"/>
            <a:ext cx="50800" cy="738931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39780" y="4651325"/>
            <a:ext cx="5577929" cy="738931"/>
          </a:xfrm>
          <a:prstGeom prst="roundRect">
            <a:avLst>
              <a:gd name="adj" fmla="val 1031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39780" y="4651325"/>
            <a:ext cx="50800" cy="738931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21385" y="4757524"/>
            <a:ext cx="105566" cy="1055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283" y="274283"/>
            <a:ext cx="4857628" cy="3619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5" b="1" i="0">
                <a:solidFill>
                  <a:srgbClr val="1B2A6B"/>
                </a:solidFill>
                <a:latin typeface="Montserrat"/>
              </a:rPr>
              <a:t>Paradigma Karşılaştırması — Gösterge Doğruluk Eğilimleri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283" y="727602"/>
            <a:ext cx="546959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1">
                <a:solidFill>
                  <a:srgbClr val="5E6C88"/>
                </a:solidFill>
                <a:latin typeface="Inter 18pt"/>
              </a:rPr>
              <a:t>[EKLE: Sonuçlar mevcut olduğunda her paradigma için gerçek eğitim doğruluk eğrileriyle değiştirin]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283" y="6532200"/>
            <a:ext cx="319704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46B7D"/>
                </a:solidFill>
                <a:latin typeface="Inter 18pt"/>
              </a:rPr>
              <a:t>Source: </a:t>
            </a:r>
            <a:r>
              <a:rPr sz="869" b="0" i="0">
                <a:solidFill>
                  <a:srgbClr val="646B7D"/>
                </a:solidFill>
                <a:latin typeface="Inter 18pt"/>
                <a:hlinkClick r:id="rId3" tooltip="Hyperspectral Image Classification using Spectr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Image Classification using Spectral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621" y="500198"/>
            <a:ext cx="5517218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Paradigma Düzeyinde Analiz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9621" y="1035073"/>
            <a:ext cx="5268532" cy="776149"/>
          </a:xfrm>
          <a:prstGeom prst="rect">
            <a:avLst/>
          </a:prstGeom>
          <a:noFill/>
        </p:spPr>
        <p:txBody>
          <a:bodyPr wrap="square" lIns="0" tIns="0" rIns="0" bIns="121916">
            <a:spAutoFit/>
          </a:bodyPr>
          <a:lstStyle/>
          <a:p>
            <a:pPr algn="l"/>
            <a:r>
              <a:rPr sz="1170" b="0" i="0">
                <a:solidFill>
                  <a:srgbClr val="0D1B4B"/>
                </a:solidFill>
                <a:latin typeface="Inter 18pt"/>
              </a:rPr>
              <a:t>Üç paradigmanın mimariden bağımsız olarak doğrudan karşılaştırılması, etiket mevcudiyetinin ve eğitim stratejisinin nihai doğruluk üzerindeki etkisini izole eder.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4788" y="2079225"/>
            <a:ext cx="1369184" cy="1732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FFFFFF"/>
                </a:solidFill>
                <a:highlight>
                  <a:srgbClr val="1B2A6B"/>
                </a:highlight>
                <a:latin typeface="Montserrat"/>
              </a:rPr>
              <a:t>Gözetimli</a:t>
            </a:r>
            <a:r>
              <a:rPr sz="822" b="1" i="0">
                <a:solidFill>
                  <a:srgbClr val="1B2A6B"/>
                </a:solidFill>
                <a:latin typeface="Montserrat"/>
              </a:rPr>
              <a:t> Temel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4788" y="2269572"/>
            <a:ext cx="5037854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Tam etiket mevcudiyeti; performans tavanını belirler. Tüm gradyan güncellemeleri standart çapraz entropi kaybı aracılığıyla gerçek etiketleri kullanır.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4788" y="2901927"/>
            <a:ext cx="1901529" cy="1732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FFFFFF"/>
                </a:solidFill>
                <a:highlight>
                  <a:srgbClr val="7B4FFF"/>
                </a:highlight>
                <a:latin typeface="Montserrat"/>
              </a:rPr>
              <a:t>Yarı-Gözetimli</a:t>
            </a:r>
            <a:r>
              <a:rPr sz="822" b="1" i="0">
                <a:solidFill>
                  <a:srgbClr val="1B2A6B"/>
                </a:solidFill>
                <a:latin typeface="Montserrat"/>
              </a:rPr>
              <a:t> Avantaj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4788" y="3092273"/>
            <a:ext cx="5153640" cy="537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Müfredat öğrenmeli sözde etiket genişlemesi sayesinde ciddi sınıf dengesizliği olan veri setlerinde (Indian Pines) beklenen iyileştirme — örnekleri yüksekten düşük güvene göre sıralar.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4788" y="3912295"/>
            <a:ext cx="1811639" cy="17323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91" b="1" i="0">
                <a:solidFill>
                  <a:srgbClr val="1B2A6B"/>
                </a:solidFill>
                <a:highlight>
                  <a:srgbClr val="00C2E0"/>
                </a:highlight>
                <a:latin typeface="Montserrat"/>
              </a:rPr>
              <a:t>Federated</a:t>
            </a:r>
            <a:r>
              <a:rPr sz="822" b="1" i="0">
                <a:solidFill>
                  <a:srgbClr val="1B2A6B"/>
                </a:solidFill>
                <a:latin typeface="Montserrat"/>
              </a:rPr>
              <a:t> Ödünleşim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4788" y="4102642"/>
            <a:ext cx="5068363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Merkezi gözetimli temele göre bir miktar doğruluk kaybıyla gizliliği koruyan dağıtık eğitim (FedAvg); dağıtık uzaktan algılama için uygulanabilirliği doğrular.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86829" y="4750177"/>
            <a:ext cx="1993056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22" b="1" i="0">
                <a:solidFill>
                  <a:srgbClr val="1B2A6B"/>
                </a:solidFill>
                <a:latin typeface="Montserrat"/>
              </a:rPr>
              <a:t>Müfredat Öğrenme Etkisi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4788" y="4925343"/>
            <a:ext cx="5031753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Örnekleri güvene göre sıralayarak erken eğitim turlarındaki gürültüyü azaltır — üç mimarinin tamamında yakınsamayı stabilize eder.</a:t>
            </a:r>
            <a:r>
              <a:rPr sz="869" b="0" i="0">
                <a:solidFill>
                  <a:srgbClr val="00819D"/>
                </a:solidFill>
                <a:latin typeface="Inter 18pt"/>
              </a:rPr>
              <a:t> </a:t>
            </a:r>
            <a:r>
              <a:rPr sz="869" b="0" i="0">
                <a:solidFill>
                  <a:srgbClr val="00819D"/>
                </a:solidFill>
                <a:latin typeface="Inter 18pt"/>
                <a:hlinkClick r:id="rId3" tooltip="Hyperspectral Image Classification using Spectr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55024" y="6456002"/>
            <a:ext cx="362387" cy="219069"/>
          </a:xfrm>
          <a:prstGeom prst="rect">
            <a:avLst/>
          </a:prstGeom>
          <a:noFill/>
        </p:spPr>
        <p:txBody>
          <a:bodyPr wrap="none" lIns="0" tIns="76198" rIns="0" bIns="0">
            <a:spAutoFit/>
          </a:bodyPr>
          <a:lstStyle/>
          <a:p>
            <a:pPr algn="r"/>
            <a:r>
              <a:rPr sz="869" b="0" i="0">
                <a:solidFill>
                  <a:srgbClr val="6A7184"/>
                </a:solidFill>
                <a:latin typeface="Inter 18pt"/>
              </a:rPr>
              <a:t>17 / 22</a:t>
            </a:r>
          </a:p>
        </p:txBody>
      </p:sp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274283" y="992361"/>
          <a:ext cx="5571985" cy="30479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D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1885" cy="685782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876800" y="2150936"/>
            <a:ext cx="6980039" cy="345132"/>
          </a:xfrm>
          <a:prstGeom prst="roundRect">
            <a:avLst>
              <a:gd name="adj" fmla="val 165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03867" y="2252128"/>
            <a:ext cx="145652" cy="11329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876800" y="2560064"/>
            <a:ext cx="6980039" cy="345132"/>
          </a:xfrm>
          <a:prstGeom prst="roundRect">
            <a:avLst>
              <a:gd name="adj" fmla="val 165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1959" y="2657200"/>
            <a:ext cx="129477" cy="12138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876800" y="2969193"/>
            <a:ext cx="6980039" cy="345132"/>
          </a:xfrm>
          <a:prstGeom prst="roundRect">
            <a:avLst>
              <a:gd name="adj" fmla="val 165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1959" y="3062272"/>
            <a:ext cx="129477" cy="12947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876800" y="3378321"/>
            <a:ext cx="6980039" cy="345132"/>
          </a:xfrm>
          <a:prstGeom prst="roundRect">
            <a:avLst>
              <a:gd name="adj" fmla="val 165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03867" y="3480434"/>
            <a:ext cx="145661" cy="11138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876800" y="3787450"/>
            <a:ext cx="6980039" cy="345132"/>
          </a:xfrm>
          <a:prstGeom prst="roundRect">
            <a:avLst>
              <a:gd name="adj" fmla="val 1655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1959" y="3888601"/>
            <a:ext cx="129477" cy="11329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76678" y="565743"/>
            <a:ext cx="2208256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 dirty="0">
                <a:solidFill>
                  <a:srgbClr val="1B2A6B"/>
                </a:solidFill>
                <a:latin typeface="Montserrat"/>
              </a:rPr>
              <a:t>GUI </a:t>
            </a:r>
            <a:r>
              <a:rPr sz="2533" b="1" i="0" dirty="0" err="1">
                <a:solidFill>
                  <a:srgbClr val="1B2A6B"/>
                </a:solidFill>
                <a:latin typeface="Montserrat"/>
              </a:rPr>
              <a:t>Sistemi</a:t>
            </a:r>
            <a:endParaRPr sz="2533" b="1" i="0" dirty="0">
              <a:solidFill>
                <a:srgbClr val="1B2A6B"/>
              </a:solidFill>
              <a:latin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4777" y="1194518"/>
            <a:ext cx="6592028" cy="553998"/>
          </a:xfrm>
          <a:prstGeom prst="rect">
            <a:avLst/>
          </a:prstGeom>
          <a:noFill/>
        </p:spPr>
        <p:txBody>
          <a:bodyPr wrap="square" lIns="114297" tIns="0" rIns="0" bIns="0">
            <a:spAutoFit/>
          </a:bodyPr>
          <a:lstStyle/>
          <a:p>
            <a:pPr algn="l"/>
            <a:r>
              <a:rPr sz="1200" b="1" i="0" dirty="0">
                <a:solidFill>
                  <a:srgbClr val="0D1B4B"/>
                </a:solidFill>
                <a:latin typeface="Inter 18pt"/>
              </a:rPr>
              <a:t>Amaca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özel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bir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grafik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arayüz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,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kullanıcıların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hiperspektral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görüntüler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yüklemesine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, 27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eğitimli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modelden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herhangi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birini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isteğe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bağlı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çoklu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iş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parçacığıyla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çalıştırmasına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ve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çıktıları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yan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yana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karşılaştırmasına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olanak</a:t>
            </a:r>
            <a:r>
              <a:rPr sz="1200" b="1" i="0" dirty="0">
                <a:solidFill>
                  <a:srgbClr val="0D1B4B"/>
                </a:solidFill>
                <a:latin typeface="Inter 18pt"/>
              </a:rPr>
              <a:t> </a:t>
            </a:r>
            <a:r>
              <a:rPr sz="1200" b="1" i="0" dirty="0" err="1">
                <a:solidFill>
                  <a:srgbClr val="0D1B4B"/>
                </a:solidFill>
                <a:latin typeface="Inter 18pt"/>
              </a:rPr>
              <a:t>tanır</a:t>
            </a:r>
            <a:r>
              <a:rPr lang="tr-TR" sz="1200" b="1" i="0" dirty="0">
                <a:solidFill>
                  <a:srgbClr val="0D1B4B"/>
                </a:solidFill>
                <a:latin typeface="Inter 18pt"/>
              </a:rPr>
              <a:t>.</a:t>
            </a:r>
            <a:endParaRPr sz="1200" b="1" i="0" dirty="0">
              <a:solidFill>
                <a:srgbClr val="0D1B4B"/>
              </a:solidFill>
              <a:latin typeface="Inter 18p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76678" y="1922277"/>
            <a:ext cx="145163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1B2A6B"/>
                </a:solidFill>
                <a:latin typeface="Inter 18pt"/>
              </a:rPr>
              <a:t>Temel Yetenekler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274" y="2228855"/>
            <a:ext cx="518236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B2A6B"/>
                </a:solidFill>
                <a:latin typeface="Inter 18pt"/>
              </a:rPr>
              <a:t>Görüntü Yükleme: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Hiperspektral görüntü dosyalarını doğrudan diskten yükleme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274" y="2637974"/>
            <a:ext cx="5891809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B2A6B"/>
                </a:solidFill>
                <a:latin typeface="Inter 18pt"/>
              </a:rPr>
              <a:t>Model Seçimi: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Çıkarım için bir veya birden fazla eğitimli model seçme (27'nin tamamından)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4274" y="3047092"/>
            <a:ext cx="624526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B2A6B"/>
                </a:solidFill>
                <a:latin typeface="Inter 18pt"/>
              </a:rPr>
              <a:t>Çok İş Parçacıklı Yürütme: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Modeller daha hızlı yanıt için ayrı iş parçacıklarında eş zamanlı çalışır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44274" y="3456210"/>
            <a:ext cx="511479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B2A6B"/>
                </a:solidFill>
                <a:latin typeface="Inter 18pt"/>
              </a:rPr>
              <a:t>Sınıflandırma Haritaları: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Giriş görüntüsü üzerine bindirilen gerçek zamanlı çıktı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4274" y="3865328"/>
            <a:ext cx="4835007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3" b="1" i="0">
                <a:solidFill>
                  <a:srgbClr val="1B2A6B"/>
                </a:solidFill>
                <a:latin typeface="Inter 18pt"/>
              </a:rPr>
              <a:t>Yan Yana Karşılaştırma:</a:t>
            </a:r>
            <a:r>
              <a:rPr sz="1025" b="0" i="0">
                <a:solidFill>
                  <a:srgbClr val="1E2A40"/>
                </a:solidFill>
                <a:latin typeface="Inter 18pt"/>
              </a:rPr>
              <a:t> Aynı girişte tüm seçili modeller için metrik tablosu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87457" y="6513458"/>
            <a:ext cx="369084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>
                <a:solidFill>
                  <a:srgbClr val="6A7184"/>
                </a:solidFill>
                <a:latin typeface="Inter 18pt"/>
              </a:rPr>
              <a:t>18 / 22</a:t>
            </a:r>
          </a:p>
        </p:txBody>
      </p:sp>
      <p:pic>
        <p:nvPicPr>
          <p:cNvPr id="29" name="Resim 28">
            <a:extLst>
              <a:ext uri="{FF2B5EF4-FFF2-40B4-BE49-F238E27FC236}">
                <a16:creationId xmlns:a16="http://schemas.microsoft.com/office/drawing/2014/main" id="{AAA072C4-E847-0880-9DC3-2D1A0D3B25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790" y="4132582"/>
            <a:ext cx="4572001" cy="25259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142553"/>
          </a:xfrm>
          <a:prstGeom prst="rect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325314"/>
            <a:ext cx="2176313" cy="5090814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3400" y="1515814"/>
            <a:ext cx="304800" cy="304800"/>
          </a:xfrm>
          <a:prstGeom prst="ellipse">
            <a:avLst/>
          </a:prstGeom>
          <a:solidFill>
            <a:srgbClr val="008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8237" y="1610632"/>
            <a:ext cx="115090" cy="1150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3400" y="2129283"/>
            <a:ext cx="1871513" cy="9525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694384" y="1325314"/>
            <a:ext cx="2176313" cy="5090814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846784" y="1515814"/>
            <a:ext cx="304800" cy="30480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34370" y="1617820"/>
            <a:ext cx="129477" cy="10070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846784" y="2129283"/>
            <a:ext cx="1871513" cy="9525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007768" y="1325314"/>
            <a:ext cx="2176313" cy="5090814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160168" y="1515814"/>
            <a:ext cx="304800" cy="304800"/>
          </a:xfrm>
          <a:prstGeom prst="ellipse">
            <a:avLst/>
          </a:prstGeom>
          <a:solidFill>
            <a:srgbClr val="A06C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7697" y="1616381"/>
            <a:ext cx="129477" cy="103581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160168" y="2129283"/>
            <a:ext cx="1871513" cy="9525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21153" y="1325314"/>
            <a:ext cx="2176313" cy="5090814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473553" y="1515814"/>
            <a:ext cx="304800" cy="304800"/>
          </a:xfrm>
          <a:prstGeom prst="ellipse">
            <a:avLst/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1023" y="1611526"/>
            <a:ext cx="129477" cy="11329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7473553" y="2129283"/>
            <a:ext cx="1871513" cy="9525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634537" y="1325314"/>
            <a:ext cx="2176313" cy="5090814"/>
          </a:xfrm>
          <a:prstGeom prst="roundRect">
            <a:avLst>
              <a:gd name="adj" fmla="val 350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786937" y="1515814"/>
            <a:ext cx="304800" cy="304800"/>
          </a:xfrm>
          <a:prstGeom prst="ellipse">
            <a:avLst/>
          </a:prstGeom>
          <a:solidFill>
            <a:srgbClr val="1E87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4350" y="1610627"/>
            <a:ext cx="129477" cy="11509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786937" y="2129283"/>
            <a:ext cx="1871513" cy="9525"/>
          </a:xfrm>
          <a:prstGeom prst="rect">
            <a:avLst/>
          </a:prstGeom>
          <a:solidFill>
            <a:srgbClr val="D0D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0990" y="152396"/>
            <a:ext cx="92509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0" b="0" i="0">
                <a:solidFill>
                  <a:srgbClr val="A8C8FF"/>
                </a:solidFill>
                <a:latin typeface="Montserrat"/>
              </a:rPr>
              <a:t>Slide 19 /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990" y="314317"/>
            <a:ext cx="2758311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FFFFFF"/>
                </a:solidFill>
                <a:latin typeface="Montserrat"/>
              </a:rPr>
              <a:t>Temel Katkılar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0990" y="799633"/>
            <a:ext cx="5769029" cy="190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70" b="0" i="1">
                <a:solidFill>
                  <a:srgbClr val="A8C8FF"/>
                </a:solidFill>
                <a:latin typeface="Inter 18pt"/>
              </a:rPr>
              <a:t>Bu tez, hiperspektral derin öğrenme literatürüne beş somut katkı yapmaktadır.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557" y="1601499"/>
            <a:ext cx="134686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168"/>
                </a:solidFill>
                <a:latin typeface="Montserrat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386" y="1896767"/>
            <a:ext cx="119059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1B2A6B"/>
                </a:solidFill>
                <a:latin typeface="Montserrat"/>
              </a:rPr>
              <a:t>Birleşik Kıyaslama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386" y="2224478"/>
            <a:ext cx="1847952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>
                  <a:srgbClr val="1E2A40"/>
                </a:solidFill>
                <a:latin typeface="Inter 18pt"/>
              </a:rPr>
              <a:t>Üç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kanonik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veri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setinde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(Indian Pines, Salinas, Pavia University)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gözetimli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(ort. OA %98.97),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yarı-gözetimli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(ort. %84.64)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ve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federated (ort. %96.74)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paradigmalar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altında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2D CNN, 3D CNN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ve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ViT'in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27 model × 270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eğitim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çalışmasını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kapsayan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ilk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sistematik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karşılaştırması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2883" y="1601499"/>
            <a:ext cx="156414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168"/>
                </a:solidFill>
                <a:latin typeface="Montserrat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6713" y="1896767"/>
            <a:ext cx="1181516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1B2A6B"/>
                </a:solidFill>
                <a:latin typeface="Montserrat"/>
              </a:rPr>
              <a:t>Yarı-Gözetimli Hat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6713" y="2224478"/>
            <a:ext cx="1775623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>
                  <a:srgbClr val="1E2A40"/>
                </a:solidFill>
                <a:latin typeface="Inter 18pt"/>
              </a:rPr>
              <a:t>HSI'nın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%10/%90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etiket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bölümü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kısıtlaması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için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özel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olarak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ayarlanmış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öz-eğitimle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müfredat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öğrenmesinin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entegrasyonu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. Salinas'ta CNN2D semi-supervised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gözetimliyi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+4.73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puan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geçmiş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; Indian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Pines'da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sınıf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dengesizliği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etkisini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kısıtlamıştır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56210" y="1601499"/>
            <a:ext cx="15596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168"/>
                </a:solidFill>
                <a:latin typeface="Montserrat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0039" y="1896767"/>
            <a:ext cx="1583045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1B2A6B"/>
                </a:solidFill>
                <a:latin typeface="Montserrat"/>
              </a:rPr>
              <a:t>Federated HSI Çerçevesi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0039" y="2224478"/>
            <a:ext cx="1818485" cy="14773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>
                  <a:srgbClr val="1E2A40"/>
                </a:solidFill>
                <a:latin typeface="Inter 18pt"/>
              </a:rPr>
              <a:t>FedAvg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toplama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(30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istemci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, 50 tur)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ile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derin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HSI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sınıflandırıcılarının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dağıtık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eğitimi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. Salinas ort. federated OA %99.13 (+2.02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gözetimli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), Pavia %99.54 (−0.44), Indian Pines %91.55 (−8.26)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ile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uygulanabilirlik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gösterilmiştir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9536" y="1601499"/>
            <a:ext cx="167725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168"/>
                </a:solidFill>
                <a:latin typeface="Montserrat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73366" y="1896767"/>
            <a:ext cx="1302064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1B2A6B"/>
                </a:solidFill>
                <a:latin typeface="Montserrat"/>
              </a:rPr>
              <a:t>Titiz Değerlendirme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3366" y="2224478"/>
            <a:ext cx="1757467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1E2A40"/>
                </a:solidFill>
                <a:latin typeface="Inter 18pt"/>
              </a:rPr>
              <a:t>270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eğitim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çalışmasında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10-katlı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çapraz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doğrulama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; tam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tekrarlanabilirlik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için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beş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metrik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raporlandı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(OA,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Kesinlik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, Geri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Çağırma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, F1, Kappa).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82863" y="1601499"/>
            <a:ext cx="15730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59" b="1" i="0">
                <a:solidFill>
                  <a:srgbClr val="4A5168"/>
                </a:solidFill>
                <a:latin typeface="Montserrat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6692" y="1896767"/>
            <a:ext cx="1175563" cy="1523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5" b="1" i="0">
                <a:solidFill>
                  <a:srgbClr val="1B2A6B"/>
                </a:solidFill>
                <a:latin typeface="Montserrat"/>
              </a:rPr>
              <a:t>Üretime Hazır GUI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86692" y="2224478"/>
            <a:ext cx="1834856" cy="9233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 err="1">
                <a:solidFill>
                  <a:srgbClr val="1E2A40"/>
                </a:solidFill>
                <a:latin typeface="Inter 18pt"/>
              </a:rPr>
              <a:t>Kod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yazmadan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gerçek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zamanlı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model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karşılaştırması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ve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sınıflandırma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haritası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üretimi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sağlayan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çok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iş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parçacıklı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çıkarım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1200" b="0" i="0" dirty="0" err="1">
                <a:solidFill>
                  <a:srgbClr val="1E2A40"/>
                </a:solidFill>
                <a:latin typeface="Inter 18pt"/>
              </a:rPr>
              <a:t>arayüzü</a:t>
            </a:r>
            <a:r>
              <a:rPr sz="1200" b="0" i="0" dirty="0">
                <a:solidFill>
                  <a:srgbClr val="1E2A40"/>
                </a:solidFill>
                <a:latin typeface="Inter 18pt"/>
              </a:rPr>
              <a:t>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90752" y="6638758"/>
            <a:ext cx="119952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4A5168"/>
                </a:solidFill>
                <a:latin typeface="Inter 18pt"/>
              </a:rPr>
              <a:t>19</a:t>
            </a:r>
          </a:p>
        </p:txBody>
      </p:sp>
      <p:sp>
        <p:nvSpPr>
          <p:cNvPr id="43" name="TextBox 89">
            <a:extLst>
              <a:ext uri="{FF2B5EF4-FFF2-40B4-BE49-F238E27FC236}">
                <a16:creationId xmlns:a16="http://schemas.microsoft.com/office/drawing/2014/main" id="{091EF24A-8A00-5A87-769E-BD4B28951422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5670" y="582364"/>
            <a:ext cx="11460658" cy="557807"/>
          </a:xfrm>
          <a:prstGeom prst="roundRect">
            <a:avLst>
              <a:gd name="adj" fmla="val 10245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65670" y="1231552"/>
            <a:ext cx="6876305" cy="740866"/>
          </a:xfrm>
          <a:prstGeom prst="roundRect">
            <a:avLst>
              <a:gd name="adj" fmla="val 1028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670" y="1231552"/>
            <a:ext cx="50800" cy="740866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704" y="1338963"/>
            <a:ext cx="135463" cy="13544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65670" y="2040880"/>
            <a:ext cx="6876305" cy="544710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670" y="2040880"/>
            <a:ext cx="50800" cy="544710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237" y="2139797"/>
            <a:ext cx="152396" cy="1523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5670" y="2654051"/>
            <a:ext cx="6876305" cy="544710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670" y="2654051"/>
            <a:ext cx="50800" cy="54471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237" y="2768193"/>
            <a:ext cx="152396" cy="121916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65670" y="3267223"/>
            <a:ext cx="6876305" cy="544710"/>
          </a:xfrm>
          <a:prstGeom prst="roundRect">
            <a:avLst>
              <a:gd name="adj" fmla="val 1398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65670" y="3267223"/>
            <a:ext cx="50800" cy="54471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237" y="3374576"/>
            <a:ext cx="152396" cy="13546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24737" y="1231552"/>
            <a:ext cx="266700" cy="266700"/>
          </a:xfrm>
          <a:prstGeom prst="roundRect">
            <a:avLst>
              <a:gd name="adj" fmla="val 21428"/>
            </a:avLst>
          </a:prstGeom>
          <a:solidFill>
            <a:srgbClr val="5B2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93143" y="1300136"/>
            <a:ext cx="129484" cy="129487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424737" y="1559123"/>
            <a:ext cx="4401591" cy="4529161"/>
          </a:xfrm>
          <a:prstGeom prst="roundRect">
            <a:avLst>
              <a:gd name="adj" fmla="val 173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561808" y="1876396"/>
            <a:ext cx="66675" cy="66675"/>
          </a:xfrm>
          <a:prstGeom prst="ellipse">
            <a:avLst/>
          </a:prstGeom>
          <a:solidFill>
            <a:srgbClr val="5B2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561808" y="2158156"/>
            <a:ext cx="66675" cy="66675"/>
          </a:xfrm>
          <a:prstGeom prst="ellipse">
            <a:avLst/>
          </a:prstGeom>
          <a:solidFill>
            <a:srgbClr val="5B2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561808" y="2414289"/>
            <a:ext cx="66675" cy="66675"/>
          </a:xfrm>
          <a:prstGeom prst="ellipse">
            <a:avLst/>
          </a:prstGeom>
          <a:solidFill>
            <a:srgbClr val="5B2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561808" y="2858095"/>
            <a:ext cx="66675" cy="66675"/>
          </a:xfrm>
          <a:prstGeom prst="ellipse">
            <a:avLst/>
          </a:prstGeom>
          <a:solidFill>
            <a:srgbClr val="5B2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661" y="125607"/>
            <a:ext cx="3079623" cy="39051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216" b="1" i="0">
                <a:solidFill>
                  <a:srgbClr val="1B2A6B"/>
                </a:solidFill>
                <a:latin typeface="Montserrat"/>
              </a:rPr>
              <a:t>Sonuç ve Tartışma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97681" y="325627"/>
            <a:ext cx="905001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738" b="1" i="0">
                <a:solidFill>
                  <a:srgbClr val="007B8E"/>
                </a:solidFill>
                <a:latin typeface="Montserrat"/>
              </a:rPr>
              <a:t>Slayt 20 / 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417" y="668072"/>
            <a:ext cx="10792001" cy="3836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9" b="0" i="1">
                <a:solidFill>
                  <a:srgbClr val="FFFFFF"/>
                </a:solidFill>
                <a:latin typeface="Inter 18pt"/>
              </a:rPr>
              <a:t>27 model ve üç veri seti genelinde mimari seçimi ile eğitim paradigması önemli ölçüde etkileşime girer — hiçbir tek model tüm senaryolara hâkim değildir. Paradigma ortalamaları: Gözetimli %98.97, Federated %96.74, Yarı-Gözetimli %84.64 OA. Yarı-gözetimli öğrenme dengeli veri setlerinde (Salinas, Pavia) anlamlı kazanımlar sağlar.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602" y="1317244"/>
            <a:ext cx="6269525" cy="563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1E2A40"/>
                </a:solidFill>
                <a:latin typeface="Inter 18pt"/>
              </a:rPr>
              <a:t>2D CNN tüm paradigmalar genelinde en yüksek ort. OA'ya ulaşmıştır (%95.40). 3D CNN gözetimli öğrenmede güçlüdür (Pavia %100.00, Indian Pines %99.90); ViT büyük ve uzamsal açıdan karmaşık sahnelerde üstündür (Salinas Sup. ViT %99.73, Pavia Sup. ViT %99.96), ancak semi-supervised'de en zayıf performansı gösterir (Indian Pines %55.50).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4602" y="2126551"/>
            <a:ext cx="6086769" cy="367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1E2A40"/>
                </a:solidFill>
                <a:latin typeface="Inter 18pt"/>
              </a:rPr>
              <a:t>Müfredat öğrenmeli yarı-gözetimli öz-eğitim, etiket kıtlığına duyarlılığı azaltır. Salinas'ta CNN2D semi-supervised gözetimliyi +4.73 puan geçmiş (%97.36 vs %92.63). Indian Pines'da şiddetli sınıf dengesizliği (Yulaf: 20 örnek) semi-supervised performansını %55.50–%75.18 aralığına düşürmüştür.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602" y="2739708"/>
            <a:ext cx="5827814" cy="367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1E2A40"/>
                </a:solidFill>
                <a:latin typeface="Inter 18pt"/>
              </a:rPr>
              <a:t>Federated öğrenme, veri yerelliğini korurken rekabetçi doğruluk elde eder. Salinas federated ort. %99.13 (+2.02 gözetimli), Pavia %99.54 (−0.44), Indian Pines %91.55 (−8.26). Tüm veri seti ortalaması −2.23 puan: dağıtık uzaktan algılama için uygulanabilirliği sayısal olarak doğrulanmıştır.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602" y="3352864"/>
            <a:ext cx="6122784" cy="367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25" b="0" i="0">
                <a:solidFill>
                  <a:srgbClr val="1E2A40"/>
                </a:solidFill>
                <a:latin typeface="Inter 18pt"/>
              </a:rPr>
              <a:t>GUI araştırma ile pratiği köprüler: eğitimli modeller eğitim not defterlerini yeniden çalıştırmadan hemen çıkarım için dağıtılabilir.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5033" y="1274383"/>
            <a:ext cx="1247446" cy="1809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2" b="1" i="0">
                <a:solidFill>
                  <a:srgbClr val="1B2A6B"/>
                </a:solidFill>
                <a:latin typeface="Montserrat"/>
              </a:rPr>
              <a:t>Gelecek Çalışma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04490" y="1829622"/>
            <a:ext cx="3528477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Etiket kıtlığında genelleşmeyi iyileştirmek için veri artırma stratejileri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04490" y="2111371"/>
            <a:ext cx="3415817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Etiket seçimi için aktif öğrenme ve etiketleme verimliliği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04490" y="2367498"/>
            <a:ext cx="3976141" cy="3495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81" b="0" i="0">
                <a:solidFill>
                  <a:srgbClr val="1E2A40"/>
                </a:solidFill>
                <a:latin typeface="Inter 18pt"/>
              </a:rPr>
              <a:t>Üç kıyaslama sahnesinin ötesinde genelleşmeyi doğrulamak için veri setleri arası transfer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04490" y="2811292"/>
            <a:ext cx="3815708" cy="161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81" b="0" i="0" dirty="0">
                <a:solidFill>
                  <a:srgbClr val="1E2A40"/>
                </a:solidFill>
                <a:latin typeface="Inter 18pt"/>
              </a:rPr>
              <a:t>Kaynak </a:t>
            </a:r>
            <a:r>
              <a:rPr sz="981" b="0" i="0" dirty="0" err="1">
                <a:solidFill>
                  <a:srgbClr val="1E2A40"/>
                </a:solidFill>
                <a:latin typeface="Inter 18pt"/>
              </a:rPr>
              <a:t>kısıtlı</a:t>
            </a:r>
            <a:r>
              <a:rPr sz="981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81" b="0" i="0" dirty="0" err="1">
                <a:solidFill>
                  <a:srgbClr val="1E2A40"/>
                </a:solidFill>
                <a:latin typeface="Inter 18pt"/>
              </a:rPr>
              <a:t>ortamlarda</a:t>
            </a:r>
            <a:r>
              <a:rPr sz="981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81" b="0" i="0" dirty="0" err="1">
                <a:solidFill>
                  <a:srgbClr val="1E2A40"/>
                </a:solidFill>
                <a:latin typeface="Inter 18pt"/>
              </a:rPr>
              <a:t>uç</a:t>
            </a:r>
            <a:r>
              <a:rPr sz="981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81" b="0" i="0" dirty="0" err="1">
                <a:solidFill>
                  <a:srgbClr val="1E2A40"/>
                </a:solidFill>
                <a:latin typeface="Inter 18pt"/>
              </a:rPr>
              <a:t>dağıtım</a:t>
            </a:r>
            <a:r>
              <a:rPr sz="981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81" b="0" i="0" dirty="0" err="1">
                <a:solidFill>
                  <a:srgbClr val="1E2A40"/>
                </a:solidFill>
                <a:latin typeface="Inter 18pt"/>
              </a:rPr>
              <a:t>için</a:t>
            </a:r>
            <a:r>
              <a:rPr sz="981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81" b="0" i="0" dirty="0" err="1">
                <a:solidFill>
                  <a:srgbClr val="1E2A40"/>
                </a:solidFill>
                <a:latin typeface="Inter 18pt"/>
              </a:rPr>
              <a:t>hafif</a:t>
            </a:r>
            <a:r>
              <a:rPr sz="981" b="0" i="0" dirty="0">
                <a:solidFill>
                  <a:srgbClr val="1E2A40"/>
                </a:solidFill>
                <a:latin typeface="Inter 18pt"/>
              </a:rPr>
              <a:t> model </a:t>
            </a:r>
            <a:r>
              <a:rPr sz="981" b="0" i="0" dirty="0" err="1">
                <a:solidFill>
                  <a:srgbClr val="1E2A40"/>
                </a:solidFill>
                <a:latin typeface="Inter 18pt"/>
              </a:rPr>
              <a:t>sıkıştırma</a:t>
            </a:r>
            <a:endParaRPr sz="981" b="0" i="0" dirty="0">
              <a:solidFill>
                <a:srgbClr val="1E2A40"/>
              </a:solidFill>
              <a:latin typeface="Inter 18p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461116" y="6648283"/>
            <a:ext cx="364917" cy="13334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2" b="0" i="0">
                <a:solidFill>
                  <a:srgbClr val="3E4A66"/>
                </a:solidFill>
                <a:latin typeface="Inter 18pt"/>
              </a:rPr>
              <a:t>20 / 22</a:t>
            </a:r>
          </a:p>
        </p:txBody>
      </p:sp>
      <p:sp>
        <p:nvSpPr>
          <p:cNvPr id="37" name="TextBox 89">
            <a:extLst>
              <a:ext uri="{FF2B5EF4-FFF2-40B4-BE49-F238E27FC236}">
                <a16:creationId xmlns:a16="http://schemas.microsoft.com/office/drawing/2014/main" id="{308A6FC5-57DA-6447-F6F4-CA215FD7686A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81000" y="1322784"/>
            <a:ext cx="571500" cy="28575"/>
          </a:xfrm>
          <a:prstGeom prst="roundRect">
            <a:avLst>
              <a:gd name="adj" fmla="val 50000"/>
            </a:avLst>
          </a:prstGeom>
          <a:solidFill>
            <a:srgbClr val="00C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1000" y="1579810"/>
            <a:ext cx="5600700" cy="4815333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3795" y="177209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1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7578" y="1864406"/>
            <a:ext cx="137057" cy="1199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3795" y="2324397"/>
            <a:ext cx="5155108" cy="691753"/>
          </a:xfrm>
          <a:prstGeom prst="roundRect">
            <a:avLst>
              <a:gd name="adj" fmla="val 8261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3795" y="2324397"/>
            <a:ext cx="38100" cy="691753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6670" y="2453878"/>
            <a:ext cx="83790" cy="8379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3795" y="3099941"/>
            <a:ext cx="5155108" cy="691753"/>
          </a:xfrm>
          <a:prstGeom prst="roundRect">
            <a:avLst>
              <a:gd name="adj" fmla="val 8261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3795" y="3099941"/>
            <a:ext cx="38100" cy="691753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46670" y="3229421"/>
            <a:ext cx="83790" cy="8379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03795" y="3875484"/>
            <a:ext cx="5155108" cy="691753"/>
          </a:xfrm>
          <a:prstGeom prst="roundRect">
            <a:avLst>
              <a:gd name="adj" fmla="val 8261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795" y="3875484"/>
            <a:ext cx="38100" cy="691753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6670" y="4004964"/>
            <a:ext cx="83790" cy="8379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3795" y="4651027"/>
            <a:ext cx="5155108" cy="884189"/>
          </a:xfrm>
          <a:prstGeom prst="roundRect">
            <a:avLst>
              <a:gd name="adj" fmla="val 8261"/>
            </a:avLst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794" y="4651027"/>
            <a:ext cx="45719" cy="884189"/>
          </a:xfrm>
          <a:prstGeom prst="rect">
            <a:avLst/>
          </a:prstGeom>
          <a:solidFill>
            <a:srgbClr val="7B4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6670" y="4780508"/>
            <a:ext cx="83790" cy="83790"/>
          </a:xfrm>
          <a:prstGeom prst="ellipse">
            <a:avLst/>
          </a:prstGeom>
          <a:solidFill>
            <a:srgbClr val="7B4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0300" y="1579810"/>
            <a:ext cx="5600700" cy="4815333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433095" y="1772096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0082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6706" y="1855846"/>
            <a:ext cx="137074" cy="137077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433095" y="2324397"/>
            <a:ext cx="5155108" cy="691753"/>
          </a:xfrm>
          <a:prstGeom prst="roundRect">
            <a:avLst>
              <a:gd name="adj" fmla="val 8261"/>
            </a:avLst>
          </a:prstGeom>
          <a:solidFill>
            <a:srgbClr val="E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33095" y="2324397"/>
            <a:ext cx="38100" cy="691753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898" y="2446207"/>
            <a:ext cx="113292" cy="12948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33095" y="3099941"/>
            <a:ext cx="5155108" cy="517028"/>
          </a:xfrm>
          <a:prstGeom prst="roundRect">
            <a:avLst>
              <a:gd name="adj" fmla="val 11053"/>
            </a:avLst>
          </a:prstGeom>
          <a:solidFill>
            <a:srgbClr val="E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33095" y="3099941"/>
            <a:ext cx="38100" cy="51702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83898" y="3229842"/>
            <a:ext cx="113292" cy="113292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6433095" y="3700760"/>
            <a:ext cx="5155108" cy="517028"/>
          </a:xfrm>
          <a:prstGeom prst="roundRect">
            <a:avLst>
              <a:gd name="adj" fmla="val 11053"/>
            </a:avLst>
          </a:prstGeom>
          <a:solidFill>
            <a:srgbClr val="E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33095" y="3700760"/>
            <a:ext cx="38100" cy="51702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3898" y="3830672"/>
            <a:ext cx="110624" cy="11062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433095" y="4301579"/>
            <a:ext cx="5155108" cy="517028"/>
          </a:xfrm>
          <a:prstGeom prst="roundRect">
            <a:avLst>
              <a:gd name="adj" fmla="val 11053"/>
            </a:avLst>
          </a:prstGeom>
          <a:solidFill>
            <a:srgbClr val="E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33095" y="4301579"/>
            <a:ext cx="38100" cy="51702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2999" y="4430557"/>
            <a:ext cx="115091" cy="115079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433095" y="4902398"/>
            <a:ext cx="5155108" cy="517028"/>
          </a:xfrm>
          <a:prstGeom prst="roundRect">
            <a:avLst>
              <a:gd name="adj" fmla="val 11053"/>
            </a:avLst>
          </a:prstGeom>
          <a:solidFill>
            <a:srgbClr val="E8F9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33095" y="4902398"/>
            <a:ext cx="38100" cy="517028"/>
          </a:xfrm>
          <a:prstGeom prst="rect">
            <a:avLst/>
          </a:prstGeom>
          <a:solidFill>
            <a:srgbClr val="00C2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75806" y="5024162"/>
            <a:ext cx="129477" cy="12947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380990" y="285742"/>
            <a:ext cx="5839274" cy="4476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Sınırlılıklar ve Gelecek Çalışma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990" y="765255"/>
            <a:ext cx="7957343" cy="4549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82" b="0" i="1">
                <a:solidFill>
                  <a:srgbClr val="0D1B4B"/>
                </a:solidFill>
                <a:latin typeface="Inter 18pt"/>
              </a:rPr>
              <a:t>Kapsam sınırlarının dürüstçe kabul edilmesi, komitenin bu çalışmanın nerede bittiğini ve neyin açık kaldığını anlamasına rehberlik eder.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951" y="1814913"/>
            <a:ext cx="1702848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13" b="1" i="0">
                <a:solidFill>
                  <a:srgbClr val="1B2A6B"/>
                </a:solidFill>
                <a:latin typeface="Montserrat"/>
              </a:rPr>
              <a:t>Mevcut Sınırlılıklar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408" y="2408127"/>
            <a:ext cx="1431690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8" b="1" i="0">
                <a:solidFill>
                  <a:srgbClr val="1B2A6B"/>
                </a:solidFill>
                <a:latin typeface="Montserrat"/>
              </a:rPr>
              <a:t>Hesaplama Kapsamı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408" y="2594753"/>
            <a:ext cx="4123626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Deneyler üç kıyaslama veri setiyle sınırlıdır (Indian Pines 145×145, Salinas 512×217, Pavia 610×340); hava veya uydu sahnelerine genelleştirilebilirlik henüz doğrulanmamıştır.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9408" y="3183651"/>
            <a:ext cx="1364719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8" b="1" i="0">
                <a:solidFill>
                  <a:srgbClr val="1B2A6B"/>
                </a:solidFill>
                <a:latin typeface="Montserrat"/>
              </a:rPr>
              <a:t>Federated Kurulum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9408" y="3370277"/>
            <a:ext cx="4096242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30 istemci tek bir makinede simüle edilmiştir (50 tur, FedAvg); gerçek dağıtık dağıtım (ağ gecikmesi, bant genişliği, asenkron toplama) test edilmemiştir.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9408" y="3959175"/>
            <a:ext cx="1065433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8" b="1" i="0">
                <a:solidFill>
                  <a:srgbClr val="1B2A6B"/>
                </a:solidFill>
                <a:latin typeface="Montserrat"/>
              </a:rPr>
              <a:t>Etiket Stratejisi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9408" y="4145801"/>
            <a:ext cx="4230928" cy="3211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>
                <a:solidFill>
                  <a:srgbClr val="1E2A40"/>
                </a:solidFill>
                <a:latin typeface="Inter 18pt"/>
              </a:rPr>
              <a:t>Öz-eğitim güven eşiklerine dayanır; Indian Pines'da gürültülü sözde etiketler semi-supervised OA'yı %55.50'ye kadar düşürmüştür — ciddi sınıf dengesizliği (%10 etiket, 20 Yulaf örneği) eşik ayarını kritik kılmaktadır.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9408" y="4734699"/>
            <a:ext cx="966912" cy="17144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28" b="1" i="0">
                <a:solidFill>
                  <a:srgbClr val="1B2A6B"/>
                </a:solidFill>
                <a:latin typeface="Montserrat"/>
              </a:rPr>
              <a:t>ViT Veri Açlığı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9408" y="4921325"/>
            <a:ext cx="4349540" cy="5627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14" b="0" i="0" dirty="0">
                <a:solidFill>
                  <a:srgbClr val="1E2A40"/>
                </a:solidFill>
                <a:latin typeface="Inter 18pt"/>
              </a:rPr>
              <a:t>Vision Transformer,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ön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eğitim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olmadan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küçük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örnekli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veri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setlerinde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düşük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performans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gösterir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: Indian Pines semi-supervised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ViT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%55.50 OA. Salinas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ve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Pavia'da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(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daha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büyük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ve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dengeli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)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ViT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supervised %99.73–%99.96 OA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ile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güçlüdür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.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Ön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eğitimli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ViT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omurgaları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henüz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 </a:t>
            </a:r>
            <a:r>
              <a:rPr sz="914" b="0" i="0" dirty="0" err="1">
                <a:solidFill>
                  <a:srgbClr val="1E2A40"/>
                </a:solidFill>
                <a:latin typeface="Inter 18pt"/>
              </a:rPr>
              <a:t>değerlendirilmemiştir</a:t>
            </a:r>
            <a:r>
              <a:rPr sz="914" b="0" i="0" dirty="0">
                <a:solidFill>
                  <a:srgbClr val="1E2A40"/>
                </a:solidFill>
                <a:latin typeface="Inter 18pt"/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29105" y="1814913"/>
            <a:ext cx="1768926" cy="21906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13" b="1" i="0">
                <a:solidFill>
                  <a:srgbClr val="1B2A6B"/>
                </a:solidFill>
                <a:latin typeface="Montserrat"/>
              </a:rPr>
              <a:t>Gelecek Yönelimler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04251" y="2417652"/>
            <a:ext cx="4438836" cy="5018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1B2A6B"/>
                </a:solidFill>
                <a:latin typeface="Inter 18pt"/>
              </a:rPr>
              <a:t>Veri Setleri Arası Genelleştirme: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Alan kayması duyarlılığını araştırmak için Indian Pines, Salinas ve Pavia University genelinde model transferini değerlendirin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4251" y="3193176"/>
            <a:ext cx="4222743" cy="3271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1B2A6B"/>
                </a:solidFill>
                <a:latin typeface="Inter 18pt"/>
              </a:rPr>
              <a:t>Uç Dağıtım için Bilgi Damıtma: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Kaynak kısıtlı platformlarda çıkarım için eğitilmiş modelleri sıkıştırın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4251" y="3793980"/>
            <a:ext cx="4636921" cy="3271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1B2A6B"/>
                </a:solidFill>
                <a:latin typeface="Inter 18pt"/>
              </a:rPr>
              <a:t>Aktif Öğrenme: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Etiket açısından verimli stratejiler geliştirerek açıklama için en bilgi verici pikselleri önceliklendirin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04251" y="4394784"/>
            <a:ext cx="4620997" cy="3271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1B2A6B"/>
                </a:solidFill>
                <a:latin typeface="Inter 18pt"/>
              </a:rPr>
              <a:t>Ön İşleme Olarak Spektral Ayrıştırma: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Boyut indirgeme için PCA'ya alternatif olarak spektral ayrıştırmayı entegre edin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04251" y="4995588"/>
            <a:ext cx="4377372" cy="3271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27" b="1" i="0">
                <a:solidFill>
                  <a:srgbClr val="1B2A6B"/>
                </a:solidFill>
                <a:latin typeface="Inter 18pt"/>
              </a:rPr>
              <a:t>Ön Eğitimli ViT Omurgaları:</a:t>
            </a:r>
            <a:r>
              <a:rPr sz="947" b="0" i="0">
                <a:solidFill>
                  <a:srgbClr val="1E2A40"/>
                </a:solidFill>
                <a:latin typeface="Inter 18pt"/>
              </a:rPr>
              <a:t> Vision Transformer'ların veri açlığı sınırlılığını aşmak için temel modelleri HSI verisinde ince ayar yapın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692389" y="6486362"/>
            <a:ext cx="118315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>
                <a:solidFill>
                  <a:srgbClr val="6A7184"/>
                </a:solidFill>
                <a:latin typeface="Inter 18pt"/>
              </a:rPr>
              <a:t>21</a:t>
            </a:r>
          </a:p>
        </p:txBody>
      </p:sp>
      <p:sp>
        <p:nvSpPr>
          <p:cNvPr id="55" name="TextBox 89">
            <a:extLst>
              <a:ext uri="{FF2B5EF4-FFF2-40B4-BE49-F238E27FC236}">
                <a16:creationId xmlns:a16="http://schemas.microsoft.com/office/drawing/2014/main" id="{1C817620-0381-EFFC-39F9-EC2258264C32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7208" y="380990"/>
            <a:ext cx="1858370" cy="4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533" b="1" i="0">
                <a:solidFill>
                  <a:srgbClr val="1B2A6B"/>
                </a:solidFill>
                <a:latin typeface="Montserrat"/>
              </a:rPr>
              <a:t>Kaynakça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88" y="1276020"/>
            <a:ext cx="11353515" cy="21475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28600" algn="l">
              <a:spcAft>
                <a:spcPts val="1319"/>
              </a:spcAft>
              <a:buNone/>
            </a:pPr>
            <a:r>
              <a:rPr sz="1002" b="1" i="0">
                <a:solidFill>
                  <a:srgbClr val="1B2A6B"/>
                </a:solidFill>
                <a:latin typeface="Montserrat"/>
              </a:rPr>
              <a:t>[1]   </a:t>
            </a:r>
            <a:r>
              <a:rPr sz="1059" b="0" i="0">
                <a:solidFill>
                  <a:srgbClr val="007B96"/>
                </a:solidFill>
                <a:latin typeface="Inter 18p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Remote Sensing Scenes - Grupo de Inteli...</a:t>
            </a:r>
          </a:p>
          <a:p>
            <a:pPr marL="274320" indent="-228600" algn="l">
              <a:spcAft>
                <a:spcPts val="1319"/>
              </a:spcAft>
              <a:buNone/>
            </a:pPr>
            <a:r>
              <a:rPr sz="1002" b="1" i="0">
                <a:solidFill>
                  <a:srgbClr val="1B2A6B"/>
                </a:solidFill>
                <a:latin typeface="Montserrat"/>
              </a:rPr>
              <a:t>[2]   </a:t>
            </a:r>
            <a:r>
              <a:rPr sz="1059" b="0" i="0">
                <a:solidFill>
                  <a:srgbClr val="007B96"/>
                </a:solidFill>
                <a:latin typeface="Inter 18p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Remote Sensing Datasets: Indian Pines, ...</a:t>
            </a:r>
          </a:p>
          <a:p>
            <a:pPr marL="274320" indent="-228600" algn="l">
              <a:spcAft>
                <a:spcPts val="1319"/>
              </a:spcAft>
              <a:buNone/>
            </a:pPr>
            <a:r>
              <a:rPr sz="1002" b="1" i="0">
                <a:solidFill>
                  <a:srgbClr val="1B2A6B"/>
                </a:solidFill>
                <a:latin typeface="Montserrat"/>
              </a:rPr>
              <a:t>[3]   </a:t>
            </a:r>
            <a:r>
              <a:rPr sz="1059" b="0" i="0">
                <a:solidFill>
                  <a:srgbClr val="007B96"/>
                </a:solidFill>
                <a:latin typeface="Inter 18p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Image Classification using Spectral</a:t>
            </a:r>
          </a:p>
          <a:p>
            <a:pPr marL="274320" indent="-228600" algn="l">
              <a:spcAft>
                <a:spcPts val="1319"/>
              </a:spcAft>
              <a:buNone/>
            </a:pPr>
            <a:r>
              <a:rPr sz="1002" b="1" i="0">
                <a:solidFill>
                  <a:srgbClr val="1B2A6B"/>
                </a:solidFill>
                <a:latin typeface="Montserrat"/>
              </a:rPr>
              <a:t>[4]   </a:t>
            </a:r>
            <a:r>
              <a:rPr sz="1059" b="0" i="0">
                <a:solidFill>
                  <a:srgbClr val="007B96"/>
                </a:solidFill>
                <a:latin typeface="Inter 18p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Hyperspectral Image Classification with Multi-Path 3D...</a:t>
            </a:r>
          </a:p>
          <a:p>
            <a:pPr marL="274320" indent="-228600" algn="l">
              <a:spcAft>
                <a:spcPts val="1319"/>
              </a:spcAft>
              <a:buNone/>
            </a:pPr>
            <a:r>
              <a:rPr sz="1002" b="1" i="0">
                <a:solidFill>
                  <a:srgbClr val="1B2A6B"/>
                </a:solidFill>
                <a:latin typeface="Montserrat"/>
              </a:rPr>
              <a:t>[5]   </a:t>
            </a:r>
            <a:r>
              <a:rPr sz="1059" b="0" i="0">
                <a:solidFill>
                  <a:srgbClr val="007B96"/>
                </a:solidFill>
                <a:latin typeface="Inter 18p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ISPRS-Archives - Smart Drones, Smarter Learning: Fede...</a:t>
            </a:r>
          </a:p>
        </p:txBody>
      </p:sp>
      <p:sp>
        <p:nvSpPr>
          <p:cNvPr id="4" name="TextBox 89">
            <a:extLst>
              <a:ext uri="{FF2B5EF4-FFF2-40B4-BE49-F238E27FC236}">
                <a16:creationId xmlns:a16="http://schemas.microsoft.com/office/drawing/2014/main" id="{1EA9129F-5159-C2C4-32D5-4A88426BF44E}"/>
              </a:ext>
            </a:extLst>
          </p:cNvPr>
          <p:cNvSpPr txBox="1"/>
          <p:nvPr/>
        </p:nvSpPr>
        <p:spPr>
          <a:xfrm>
            <a:off x="335152" y="6631168"/>
            <a:ext cx="2940621" cy="1428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69" b="0" i="0" dirty="0" err="1">
                <a:solidFill>
                  <a:srgbClr val="6A7184"/>
                </a:solidFill>
                <a:latin typeface="Inter 18pt"/>
              </a:rPr>
              <a:t>Sunanlar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: Tan </a:t>
            </a:r>
            <a:r>
              <a:rPr sz="869" b="0" i="0" dirty="0" err="1">
                <a:solidFill>
                  <a:srgbClr val="6A7184"/>
                </a:solidFill>
                <a:latin typeface="Inter 18pt"/>
              </a:rPr>
              <a:t>Erciyas</a:t>
            </a:r>
            <a:r>
              <a:rPr sz="869" b="0" i="0" dirty="0">
                <a:solidFill>
                  <a:srgbClr val="6A7184"/>
                </a:solidFill>
                <a:latin typeface="Inter 18pt"/>
              </a:rPr>
              <a:t> &amp; Kerem Baydar | Haziran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4261</Words>
  <Application>Microsoft Macintosh PowerPoint</Application>
  <PresentationFormat>Geniş ekran</PresentationFormat>
  <Paragraphs>692</Paragraphs>
  <Slides>22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22</vt:i4>
      </vt:variant>
    </vt:vector>
  </HeadingPairs>
  <TitlesOfParts>
    <vt:vector size="30" baseType="lpstr">
      <vt:lpstr>Montserrat</vt:lpstr>
      <vt:lpstr>Microsoft YaHei</vt:lpstr>
      <vt:lpstr>Inter 18pt</vt:lpstr>
      <vt:lpstr>Segoe UI</vt:lpstr>
      <vt:lpstr>Arial</vt:lpstr>
      <vt:lpstr>Inter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Tan Erciyas</dc:creator>
  <cp:keywords/>
  <dc:description>generated using python-pptx</dc:description>
  <cp:lastModifiedBy>Kerem BAYDAR</cp:lastModifiedBy>
  <cp:revision>16</cp:revision>
  <dcterms:created xsi:type="dcterms:W3CDTF">2026-06-19T06:45:49Z</dcterms:created>
  <dcterms:modified xsi:type="dcterms:W3CDTF">2026-06-19T17:09:45Z</dcterms:modified>
  <cp:category/>
</cp:coreProperties>
</file>